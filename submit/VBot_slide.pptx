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536"/>
                </a:solidFill>
                <a:latin typeface="Arial"/>
              </a:defRPr>
            </a:pPr>
            <a:r>
              <a:rPr sz="1200" b="0" i="0" u="none" strike="noStrike">
                <a:solidFill>
                  <a:srgbClr val="0B2536"/>
                </a:solidFill>
                <a:latin typeface="Arial"/>
              </a:rPr>
              <a:t>8 hạng mục lớn nhất (USD/tháng)</a:t>
            </a:r>
          </a:p>
        </c:rich>
      </c:tx>
      <c:layout/>
      <c:overlay val="0"/>
    </c:title>
    <c:autoTitleDeleted val="0"/>
    <c:plotArea>
      <c:layout/>
      <c:barChart>
        <c:barDir val="bar"/>
        <c:grouping val="clustered"/>
        <c:varyColors val="0"/>
        <c:ser>
          <c:idx val="0"/>
          <c:order val="0"/>
          <c:tx>
            <c:strRef>
              <c:f>Sheet1!$B$1</c:f>
              <c:strCache>
                <c:ptCount val="1"/>
                <c:pt idx="0">
                  <c:v>USD/tháng</c:v>
                </c:pt>
              </c:strCache>
            </c:strRef>
          </c:tx>
          <c:spPr>
            <a:solidFill>
              <a:srgbClr val="0B6E99"/>
            </a:solidFill>
            <a:effectLst/>
          </c:spPr>
          <c:invertIfNegative val="0"/>
          <c:dLbls>
            <c:numFmt formatCode="#,##0" sourceLinked="0"/>
            <c:txPr>
              <a:bodyPr/>
              <a:lstStyle/>
              <a:p>
                <a:pPr>
                  <a:defRPr b="0" i="0" strike="noStrike" sz="1000" u="none">
                    <a:solidFill>
                      <a:srgbClr val="13222D"/>
                    </a:solidFill>
                    <a:latin typeface="Arial"/>
                  </a:defRPr>
                </a:pPr>
              </a:p>
            </c:txPr>
            <c:showLegendKey val="0"/>
            <c:showVal val="1"/>
            <c:showCatName val="0"/>
            <c:showSerName val="0"/>
            <c:showPercent val="0"/>
            <c:showBubbleSize val="0"/>
            <c:showLeaderLines val="0"/>
          </c:dLbls>
          <c:cat>
            <c:multiLvlStrRef>
              <c:f>Sheet1!$A$2:$A$9</c:f>
              <c:multiLvlStrCache>
                <c:ptCount val="8"/>
                <c:lvl>
                  <c:pt idx="0">
                    <c:v>SRE 1,0 FTE</c:v>
                  </c:pt>
                  <c:pt idx="1">
                    <c:v>Sonnet token ra</c:v>
                  </c:pt>
                  <c:pt idx="2">
                    <c:v>Sonnet token vào</c:v>
                  </c:pt>
                  <c:pt idx="3">
                    <c:v>Ảnh cấp 5 (1,1/request)</c:v>
                  </c:pt>
                  <c:pt idx="4">
                    <c:v>LLMOps 0,5 FTE</c:v>
                  </c:pt>
                  <c:pt idx="5">
                    <c:v>Guardrails</c:v>
                  </c:pt>
                  <c:pt idx="6">
                    <c:v>RDS prod Multi-AZ</c:v>
                  </c:pt>
                  <c:pt idx="7">
                    <c:v>Lambda sandbox</c:v>
                  </c:pt>
                </c:lvl>
              </c:multiLvlStrCache>
            </c:multiLvlStrRef>
          </c:cat>
          <c:val>
            <c:numRef>
              <c:f>Sheet1!$B$2:$B$9</c:f>
              <c:numCache>
                <c:formatCode>General</c:formatCode>
                <c:ptCount val="8"/>
                <c:pt idx="0">
                  <c:v>3500</c:v>
                </c:pt>
                <c:pt idx="1">
                  <c:v>3312.93</c:v>
                </c:pt>
                <c:pt idx="2">
                  <c:v>2988.67</c:v>
                </c:pt>
                <c:pt idx="3">
                  <c:v>2420</c:v>
                </c:pt>
                <c:pt idx="4">
                  <c:v>1750</c:v>
                </c:pt>
                <c:pt idx="5">
                  <c:v>792</c:v>
                </c:pt>
                <c:pt idx="6">
                  <c:v>787.67</c:v>
                </c:pt>
                <c:pt idx="7">
                  <c:v>649.79</c:v>
                </c:pt>
              </c:numCache>
            </c:numRef>
          </c:val>
        </c:ser>
        <c:dLbls>
          <c:numFmt formatCode="#,##0" sourceLinked="0"/>
          <c:txPr>
            <a:bodyPr/>
            <a:lstStyle/>
            <a:p>
              <a:pPr>
                <a:defRPr b="0" i="0" strike="noStrike" sz="1000" u="none">
                  <a:solidFill>
                    <a:srgbClr val="13222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3222D"/>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36"/>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indent="0" marL="0">
              <a:buNone/>
            </a:pPr>
            <a:r>
              <a:rPr lang="en-US" sz="1200" b="1" dirty="0">
                <a:solidFill>
                  <a:srgbClr val="5CC2F2"/>
                </a:solidFill>
                <a:latin typeface="Courier New" pitchFamily="34" charset="0"/>
                <a:ea typeface="Courier New" pitchFamily="34" charset="-122"/>
                <a:cs typeface="Courier New" pitchFamily="34" charset="-120"/>
              </a:rPr>
              <a:t>PRODUCTION CAPSTONE · TRACK 2</a:t>
            </a:r>
            <a:endParaRPr lang="en-US" sz="1200" dirty="0"/>
          </a:p>
        </p:txBody>
      </p:sp>
      <p:sp>
        <p:nvSpPr>
          <p:cNvPr id="3" name="Text 1"/>
          <p:cNvSpPr/>
          <p:nvPr/>
        </p:nvSpPr>
        <p:spPr>
          <a:xfrm>
            <a:off x="548640" y="914400"/>
            <a:ext cx="804672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VBot Workplace</a:t>
            </a:r>
            <a:endParaRPr lang="en-US" sz="4600" dirty="0"/>
          </a:p>
        </p:txBody>
      </p:sp>
      <p:sp>
        <p:nvSpPr>
          <p:cNvPr id="4" name="Text 2"/>
          <p:cNvSpPr/>
          <p:nvPr/>
        </p:nvSpPr>
        <p:spPr>
          <a:xfrm>
            <a:off x="548640" y="1783080"/>
            <a:ext cx="804672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Trợ lý AI văn phòng trên AWS cho 2.000 người dùng mỗi ngày</a:t>
            </a:r>
            <a:endParaRPr lang="en-US" sz="2000" dirty="0"/>
          </a:p>
        </p:txBody>
      </p:sp>
      <p:sp>
        <p:nvSpPr>
          <p:cNvPr id="5" name="Shape 3"/>
          <p:cNvSpPr/>
          <p:nvPr/>
        </p:nvSpPr>
        <p:spPr>
          <a:xfrm>
            <a:off x="548640" y="2743200"/>
            <a:ext cx="3840480" cy="1234440"/>
          </a:xfrm>
          <a:prstGeom prst="roundRect">
            <a:avLst>
              <a:gd name="adj" fmla="val 5926"/>
            </a:avLst>
          </a:prstGeom>
          <a:solidFill>
            <a:srgbClr val="12384F"/>
          </a:solidFill>
          <a:ln w="12700">
            <a:solidFill>
              <a:srgbClr val="12384F"/>
            </a:solidFill>
            <a:prstDash val="solid"/>
          </a:ln>
        </p:spPr>
      </p:sp>
      <p:sp>
        <p:nvSpPr>
          <p:cNvPr id="6" name="Text 4"/>
          <p:cNvSpPr/>
          <p:nvPr/>
        </p:nvSpPr>
        <p:spPr>
          <a:xfrm>
            <a:off x="777240" y="2852928"/>
            <a:ext cx="3474720" cy="548640"/>
          </a:xfrm>
          <a:prstGeom prst="rect">
            <a:avLst/>
          </a:prstGeom>
          <a:noFill/>
          <a:ln/>
        </p:spPr>
        <p:txBody>
          <a:bodyPr wrap="square" lIns="0" tIns="0" rIns="0" bIns="0" rtlCol="0" anchor="ctr"/>
          <a:lstStyle/>
          <a:p>
            <a:pPr indent="0" marL="0">
              <a:buNone/>
            </a:pPr>
            <a:r>
              <a:rPr lang="en-US" sz="3000" b="1" dirty="0">
                <a:solidFill>
                  <a:srgbClr val="F0A24B"/>
                </a:solidFill>
                <a:latin typeface="Cambria" pitchFamily="34" charset="0"/>
                <a:ea typeface="Cambria" pitchFamily="34" charset="-122"/>
                <a:cs typeface="Cambria" pitchFamily="34" charset="-120"/>
              </a:rPr>
              <a:t>$18.872 / tháng</a:t>
            </a:r>
            <a:endParaRPr lang="en-US" sz="3000" dirty="0"/>
          </a:p>
        </p:txBody>
      </p:sp>
      <p:sp>
        <p:nvSpPr>
          <p:cNvPr id="7" name="Text 5"/>
          <p:cNvSpPr/>
          <p:nvPr/>
        </p:nvSpPr>
        <p:spPr>
          <a:xfrm>
            <a:off x="777240" y="3456432"/>
            <a:ext cx="347472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$9,44 mỗi người dùng · giá niêm yết, không free tier</a:t>
            </a:r>
            <a:endParaRPr lang="en-US" sz="1300" dirty="0"/>
          </a:p>
        </p:txBody>
      </p:sp>
      <p:sp>
        <p:nvSpPr>
          <p:cNvPr id="8" name="Text 6"/>
          <p:cNvSpPr/>
          <p:nvPr/>
        </p:nvSpPr>
        <p:spPr>
          <a:xfrm>
            <a:off x="4754880" y="2834640"/>
            <a:ext cx="3840480" cy="1097280"/>
          </a:xfrm>
          <a:prstGeom prst="rect">
            <a:avLst/>
          </a:prstGeom>
          <a:noFill/>
          <a:ln/>
        </p:spPr>
        <p:txBody>
          <a:bodyPr wrap="square" lIns="0" tIns="0" rIns="0" bIns="0" rtlCol="0" anchor="t"/>
          <a:lstStyle/>
          <a:p>
            <a:pPr indent="0" marL="0">
              <a:buNone/>
            </a:pPr>
            <a:r>
              <a:rPr lang="en-US" sz="1200" b="1" dirty="0">
                <a:solidFill>
                  <a:srgbClr val="CADCFC"/>
                </a:solidFill>
                <a:latin typeface="Calibri" pitchFamily="34" charset="0"/>
                <a:ea typeface="Calibri" pitchFamily="34" charset="-122"/>
                <a:cs typeface="Calibri" pitchFamily="34" charset="-120"/>
              </a:rPr>
              <a:t>Nguyễn Như Tài · Lò Văn Long · Đinh Công Tú</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Bản nháp: giá lấy từ bảng giá chính thức của AWS, ảnh bằng chứng đang chờ chụp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Giả định và ước lượng tải</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Chỉ 2.000 DAU, 22 ngày/tháng và 10 giờ/ngày là đề cho. Còn lại là giả định của nhóm.</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1 / 14</a:t>
            </a:r>
            <a:endParaRPr lang="en-US" sz="900" dirty="0"/>
          </a:p>
        </p:txBody>
      </p:sp>
      <p:sp>
        <p:nvSpPr>
          <p:cNvPr id="6" name="Shape 4"/>
          <p:cNvSpPr/>
          <p:nvPr/>
        </p:nvSpPr>
        <p:spPr>
          <a:xfrm>
            <a:off x="457200" y="1188720"/>
            <a:ext cx="2651760" cy="914400"/>
          </a:xfrm>
          <a:prstGeom prst="roundRect">
            <a:avLst>
              <a:gd name="adj" fmla="val 8000"/>
            </a:avLst>
          </a:prstGeom>
          <a:solidFill>
            <a:srgbClr val="F2F6F9"/>
          </a:solidFill>
          <a:ln w="12700">
            <a:solidFill>
              <a:srgbClr val="F2F6F9"/>
            </a:solidFill>
            <a:prstDash val="solid"/>
          </a:ln>
        </p:spPr>
      </p:sp>
      <p:sp>
        <p:nvSpPr>
          <p:cNvPr id="7" name="Text 5"/>
          <p:cNvSpPr/>
          <p:nvPr/>
        </p:nvSpPr>
        <p:spPr>
          <a:xfrm>
            <a:off x="594360" y="1234440"/>
            <a:ext cx="2377440" cy="457200"/>
          </a:xfrm>
          <a:prstGeom prst="rect">
            <a:avLst/>
          </a:prstGeom>
          <a:noFill/>
          <a:ln/>
        </p:spPr>
        <p:txBody>
          <a:bodyPr wrap="square" lIns="0" tIns="0" rIns="0" bIns="0" rtlCol="0" anchor="ctr"/>
          <a:lstStyle/>
          <a:p>
            <a:pPr indent="0" marL="0">
              <a:buNone/>
            </a:pPr>
            <a:r>
              <a:rPr lang="en-US" sz="2400" b="1" dirty="0">
                <a:solidFill>
                  <a:srgbClr val="0B6E99"/>
                </a:solidFill>
                <a:latin typeface="Cambria" pitchFamily="34" charset="0"/>
                <a:ea typeface="Cambria" pitchFamily="34" charset="-122"/>
                <a:cs typeface="Cambria" pitchFamily="34" charset="-120"/>
              </a:rPr>
              <a:t>1,1 triệu</a:t>
            </a:r>
            <a:endParaRPr lang="en-US" sz="2400" dirty="0"/>
          </a:p>
        </p:txBody>
      </p:sp>
      <p:sp>
        <p:nvSpPr>
          <p:cNvPr id="8" name="Text 6"/>
          <p:cNvSpPr/>
          <p:nvPr/>
        </p:nvSpPr>
        <p:spPr>
          <a:xfrm>
            <a:off x="594360" y="1673352"/>
            <a:ext cx="2377440" cy="201168"/>
          </a:xfrm>
          <a:prstGeom prst="rect">
            <a:avLst/>
          </a:prstGeom>
          <a:noFill/>
          <a:ln/>
        </p:spPr>
        <p:txBody>
          <a:bodyPr wrap="square" lIns="0" tIns="0" rIns="0" bIns="0" rtlCol="0" anchor="ctr"/>
          <a:lstStyle/>
          <a:p>
            <a:pPr indent="0" marL="0">
              <a:buNone/>
            </a:pPr>
            <a:r>
              <a:rPr lang="en-US" sz="1200" b="1" dirty="0">
                <a:solidFill>
                  <a:srgbClr val="13222D"/>
                </a:solidFill>
                <a:latin typeface="Calibri" pitchFamily="34" charset="0"/>
                <a:ea typeface="Calibri" pitchFamily="34" charset="-122"/>
                <a:cs typeface="Calibri" pitchFamily="34" charset="-120"/>
              </a:rPr>
              <a:t>request/tháng</a:t>
            </a:r>
            <a:endParaRPr lang="en-US" sz="1200" dirty="0"/>
          </a:p>
        </p:txBody>
      </p:sp>
      <p:sp>
        <p:nvSpPr>
          <p:cNvPr id="9" name="Text 7"/>
          <p:cNvSpPr/>
          <p:nvPr/>
        </p:nvSpPr>
        <p:spPr>
          <a:xfrm>
            <a:off x="594360" y="1874520"/>
            <a:ext cx="2377440" cy="201168"/>
          </a:xfrm>
          <a:prstGeom prst="rect">
            <a:avLst/>
          </a:prstGeom>
          <a:noFill/>
          <a:ln/>
        </p:spPr>
        <p:txBody>
          <a:bodyPr wrap="square" lIns="0" tIns="0" rIns="0" bIns="0" rtlCol="0" anchor="ctr"/>
          <a:lstStyle/>
          <a:p>
            <a:pPr indent="0" marL="0">
              <a:buNone/>
            </a:pPr>
            <a:r>
              <a:rPr lang="en-US" sz="900" dirty="0">
                <a:solidFill>
                  <a:srgbClr val="586A77"/>
                </a:solidFill>
                <a:latin typeface="Courier New" pitchFamily="34" charset="0"/>
                <a:ea typeface="Courier New" pitchFamily="34" charset="-122"/>
                <a:cs typeface="Courier New" pitchFamily="34" charset="-120"/>
              </a:rPr>
              <a:t>2.000 × 25 × 22</a:t>
            </a:r>
            <a:endParaRPr lang="en-US" sz="900" dirty="0"/>
          </a:p>
        </p:txBody>
      </p:sp>
      <p:sp>
        <p:nvSpPr>
          <p:cNvPr id="10" name="Shape 8"/>
          <p:cNvSpPr/>
          <p:nvPr/>
        </p:nvSpPr>
        <p:spPr>
          <a:xfrm>
            <a:off x="3273552" y="1188720"/>
            <a:ext cx="2651760" cy="914400"/>
          </a:xfrm>
          <a:prstGeom prst="roundRect">
            <a:avLst>
              <a:gd name="adj" fmla="val 8000"/>
            </a:avLst>
          </a:prstGeom>
          <a:solidFill>
            <a:srgbClr val="F2F6F9"/>
          </a:solidFill>
          <a:ln w="12700">
            <a:solidFill>
              <a:srgbClr val="F2F6F9"/>
            </a:solidFill>
            <a:prstDash val="solid"/>
          </a:ln>
        </p:spPr>
      </p:sp>
      <p:sp>
        <p:nvSpPr>
          <p:cNvPr id="11" name="Text 9"/>
          <p:cNvSpPr/>
          <p:nvPr/>
        </p:nvSpPr>
        <p:spPr>
          <a:xfrm>
            <a:off x="3410712" y="1234440"/>
            <a:ext cx="2377440" cy="457200"/>
          </a:xfrm>
          <a:prstGeom prst="rect">
            <a:avLst/>
          </a:prstGeom>
          <a:noFill/>
          <a:ln/>
        </p:spPr>
        <p:txBody>
          <a:bodyPr wrap="square" lIns="0" tIns="0" rIns="0" bIns="0" rtlCol="0" anchor="ctr"/>
          <a:lstStyle/>
          <a:p>
            <a:pPr indent="0" marL="0">
              <a:buNone/>
            </a:pPr>
            <a:r>
              <a:rPr lang="en-US" sz="2400" b="1" dirty="0">
                <a:solidFill>
                  <a:srgbClr val="0B6E99"/>
                </a:solidFill>
                <a:latin typeface="Cambria" pitchFamily="34" charset="0"/>
                <a:ea typeface="Cambria" pitchFamily="34" charset="-122"/>
                <a:cs typeface="Cambria" pitchFamily="34" charset="-120"/>
              </a:rPr>
              <a:t>4,2 req/s</a:t>
            </a:r>
            <a:endParaRPr lang="en-US" sz="2400" dirty="0"/>
          </a:p>
        </p:txBody>
      </p:sp>
      <p:sp>
        <p:nvSpPr>
          <p:cNvPr id="12" name="Text 10"/>
          <p:cNvSpPr/>
          <p:nvPr/>
        </p:nvSpPr>
        <p:spPr>
          <a:xfrm>
            <a:off x="3410712" y="1673352"/>
            <a:ext cx="2377440" cy="201168"/>
          </a:xfrm>
          <a:prstGeom prst="rect">
            <a:avLst/>
          </a:prstGeom>
          <a:noFill/>
          <a:ln/>
        </p:spPr>
        <p:txBody>
          <a:bodyPr wrap="square" lIns="0" tIns="0" rIns="0" bIns="0" rtlCol="0" anchor="ctr"/>
          <a:lstStyle/>
          <a:p>
            <a:pPr indent="0" marL="0">
              <a:buNone/>
            </a:pPr>
            <a:r>
              <a:rPr lang="en-US" sz="1200" b="1" dirty="0">
                <a:solidFill>
                  <a:srgbClr val="13222D"/>
                </a:solidFill>
                <a:latin typeface="Calibri" pitchFamily="34" charset="0"/>
                <a:ea typeface="Calibri" pitchFamily="34" charset="-122"/>
                <a:cs typeface="Calibri" pitchFamily="34" charset="-120"/>
              </a:rPr>
              <a:t>lúc burst</a:t>
            </a:r>
            <a:endParaRPr lang="en-US" sz="1200" dirty="0"/>
          </a:p>
        </p:txBody>
      </p:sp>
      <p:sp>
        <p:nvSpPr>
          <p:cNvPr id="13" name="Text 11"/>
          <p:cNvSpPr/>
          <p:nvPr/>
        </p:nvSpPr>
        <p:spPr>
          <a:xfrm>
            <a:off x="3410712" y="1874520"/>
            <a:ext cx="2377440" cy="201168"/>
          </a:xfrm>
          <a:prstGeom prst="rect">
            <a:avLst/>
          </a:prstGeom>
          <a:noFill/>
          <a:ln/>
        </p:spPr>
        <p:txBody>
          <a:bodyPr wrap="square" lIns="0" tIns="0" rIns="0" bIns="0" rtlCol="0" anchor="ctr"/>
          <a:lstStyle/>
          <a:p>
            <a:pPr indent="0" marL="0">
              <a:buNone/>
            </a:pPr>
            <a:r>
              <a:rPr lang="en-US" sz="900" dirty="0">
                <a:solidFill>
                  <a:srgbClr val="586A77"/>
                </a:solidFill>
                <a:latin typeface="Courier New" pitchFamily="34" charset="0"/>
                <a:ea typeface="Courier New" pitchFamily="34" charset="-122"/>
                <a:cs typeface="Courier New" pitchFamily="34" charset="-120"/>
              </a:rPr>
              <a:t>15% request dồn vào 1 giờ, ×2</a:t>
            </a:r>
            <a:endParaRPr lang="en-US" sz="900" dirty="0"/>
          </a:p>
        </p:txBody>
      </p:sp>
      <p:sp>
        <p:nvSpPr>
          <p:cNvPr id="14" name="Shape 12"/>
          <p:cNvSpPr/>
          <p:nvPr/>
        </p:nvSpPr>
        <p:spPr>
          <a:xfrm>
            <a:off x="6089904" y="1188720"/>
            <a:ext cx="2651760" cy="914400"/>
          </a:xfrm>
          <a:prstGeom prst="roundRect">
            <a:avLst>
              <a:gd name="adj" fmla="val 8000"/>
            </a:avLst>
          </a:prstGeom>
          <a:solidFill>
            <a:srgbClr val="F2F6F9"/>
          </a:solidFill>
          <a:ln w="12700">
            <a:solidFill>
              <a:srgbClr val="F2F6F9"/>
            </a:solidFill>
            <a:prstDash val="solid"/>
          </a:ln>
        </p:spPr>
      </p:sp>
      <p:sp>
        <p:nvSpPr>
          <p:cNvPr id="15" name="Text 13"/>
          <p:cNvSpPr/>
          <p:nvPr/>
        </p:nvSpPr>
        <p:spPr>
          <a:xfrm>
            <a:off x="6227064" y="1234440"/>
            <a:ext cx="2377440" cy="457200"/>
          </a:xfrm>
          <a:prstGeom prst="rect">
            <a:avLst/>
          </a:prstGeom>
          <a:noFill/>
          <a:ln/>
        </p:spPr>
        <p:txBody>
          <a:bodyPr wrap="square" lIns="0" tIns="0" rIns="0" bIns="0" rtlCol="0" anchor="ctr"/>
          <a:lstStyle/>
          <a:p>
            <a:pPr indent="0" marL="0">
              <a:buNone/>
            </a:pPr>
            <a:r>
              <a:rPr lang="en-US" sz="2400" b="1" dirty="0">
                <a:solidFill>
                  <a:srgbClr val="0B6E99"/>
                </a:solidFill>
                <a:latin typeface="Cambria" pitchFamily="34" charset="0"/>
                <a:ea typeface="Cambria" pitchFamily="34" charset="-122"/>
                <a:cs typeface="Cambria" pitchFamily="34" charset="-120"/>
              </a:rPr>
              <a:t>600</a:t>
            </a:r>
            <a:endParaRPr lang="en-US" sz="2400" dirty="0"/>
          </a:p>
        </p:txBody>
      </p:sp>
      <p:sp>
        <p:nvSpPr>
          <p:cNvPr id="16" name="Text 14"/>
          <p:cNvSpPr/>
          <p:nvPr/>
        </p:nvSpPr>
        <p:spPr>
          <a:xfrm>
            <a:off x="6227064" y="1673352"/>
            <a:ext cx="2377440" cy="201168"/>
          </a:xfrm>
          <a:prstGeom prst="rect">
            <a:avLst/>
          </a:prstGeom>
          <a:noFill/>
          <a:ln/>
        </p:spPr>
        <p:txBody>
          <a:bodyPr wrap="square" lIns="0" tIns="0" rIns="0" bIns="0" rtlCol="0" anchor="ctr"/>
          <a:lstStyle/>
          <a:p>
            <a:pPr indent="0" marL="0">
              <a:buNone/>
            </a:pPr>
            <a:r>
              <a:rPr lang="en-US" sz="1200" b="1" dirty="0">
                <a:solidFill>
                  <a:srgbClr val="13222D"/>
                </a:solidFill>
                <a:latin typeface="Calibri" pitchFamily="34" charset="0"/>
                <a:ea typeface="Calibri" pitchFamily="34" charset="-122"/>
                <a:cs typeface="Calibri" pitchFamily="34" charset="-120"/>
              </a:rPr>
              <a:t>phiên đồng thời</a:t>
            </a:r>
            <a:endParaRPr lang="en-US" sz="1200" dirty="0"/>
          </a:p>
        </p:txBody>
      </p:sp>
      <p:sp>
        <p:nvSpPr>
          <p:cNvPr id="17" name="Text 15"/>
          <p:cNvSpPr/>
          <p:nvPr/>
        </p:nvSpPr>
        <p:spPr>
          <a:xfrm>
            <a:off x="6227064" y="1874520"/>
            <a:ext cx="2377440" cy="201168"/>
          </a:xfrm>
          <a:prstGeom prst="rect">
            <a:avLst/>
          </a:prstGeom>
          <a:noFill/>
          <a:ln/>
        </p:spPr>
        <p:txBody>
          <a:bodyPr wrap="square" lIns="0" tIns="0" rIns="0" bIns="0" rtlCol="0" anchor="ctr"/>
          <a:lstStyle/>
          <a:p>
            <a:pPr indent="0" marL="0">
              <a:buNone/>
            </a:pPr>
            <a:r>
              <a:rPr lang="en-US" sz="900" dirty="0">
                <a:solidFill>
                  <a:srgbClr val="586A77"/>
                </a:solidFill>
                <a:latin typeface="Courier New" pitchFamily="34" charset="0"/>
                <a:ea typeface="Courier New" pitchFamily="34" charset="-122"/>
                <a:cs typeface="Courier New" pitchFamily="34" charset="-120"/>
              </a:rPr>
              <a:t>30% × 2.000 DAU</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5486400" cy="914400"/>
        </p:xfrm>
        <a:graphic>
          <a:graphicData uri="http://schemas.openxmlformats.org/drawingml/2006/table">
            <a:tbl>
              <a:tblPr/>
              <a:tblGrid>
                <a:gridCol w="1508760"/>
                <a:gridCol w="548640"/>
                <a:gridCol w="868680"/>
                <a:gridCol w="777240"/>
                <a:gridCol w="178308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Cấp tác vụ</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Tỉ lệ</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Token vào</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Token ra</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r>
              <a:tr h="274320">
                <a:tc>
                  <a:txBody>
                    <a:bodyPr/>
                    <a:lstStyle/>
                    <a:p>
                      <a:pPr algn="l" indent="0" marL="0">
                        <a:buNone/>
                      </a:pPr>
                      <a:r>
                        <a:rPr lang="en-US" sz="1100" dirty="0">
                          <a:solidFill>
                            <a:srgbClr val="13222D"/>
                          </a:solidFill>
                          <a:latin typeface="Calibri" pitchFamily="34" charset="0"/>
                          <a:ea typeface="Calibri" pitchFamily="34" charset="-122"/>
                          <a:cs typeface="Calibri" pitchFamily="34" charset="-120"/>
                        </a:rPr>
                        <a:t>1 Email, hỏi đáp</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3.000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350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22D"/>
                          </a:solidFill>
                          <a:latin typeface="Calibri" pitchFamily="34" charset="0"/>
                          <a:ea typeface="Calibri" pitchFamily="34" charset="-122"/>
                          <a:cs typeface="Calibri" pitchFamily="34" charset="-120"/>
                        </a:rPr>
                        <a:t>Haiku 5.5</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13222D"/>
                          </a:solidFill>
                          <a:latin typeface="Calibri" pitchFamily="34" charset="0"/>
                          <a:ea typeface="Calibri" pitchFamily="34" charset="-122"/>
                          <a:cs typeface="Calibri" pitchFamily="34" charset="-120"/>
                        </a:rPr>
                        <a:t>2 Tài liệu, slide</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6.000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1.550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l" indent="0" marL="0">
                        <a:buNone/>
                      </a:pPr>
                      <a:r>
                        <a:rPr lang="en-US" sz="1100" dirty="0">
                          <a:solidFill>
                            <a:srgbClr val="13222D"/>
                          </a:solidFill>
                          <a:latin typeface="Calibri" pitchFamily="34" charset="0"/>
                          <a:ea typeface="Calibri" pitchFamily="34" charset="-122"/>
                          <a:cs typeface="Calibri" pitchFamily="34" charset="-120"/>
                        </a:rPr>
                        <a:t>Haiku 5.5</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algn="l" indent="0" marL="0">
                        <a:buNone/>
                      </a:pPr>
                      <a:r>
                        <a:rPr lang="en-US" sz="1100" dirty="0">
                          <a:solidFill>
                            <a:srgbClr val="13222D"/>
                          </a:solidFill>
                          <a:latin typeface="Calibri" pitchFamily="34" charset="0"/>
                          <a:ea typeface="Calibri" pitchFamily="34" charset="-122"/>
                          <a:cs typeface="Calibri" pitchFamily="34" charset="-120"/>
                        </a:rPr>
                        <a:t>3 Dữ liệu, code</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1.050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22D"/>
                          </a:solidFill>
                          <a:latin typeface="Calibri" pitchFamily="34" charset="0"/>
                          <a:ea typeface="Calibri" pitchFamily="34" charset="-122"/>
                          <a:cs typeface="Calibri" pitchFamily="34" charset="-120"/>
                        </a:rPr>
                        <a:t>Haiku 70% / Sonnet 30%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13222D"/>
                          </a:solidFill>
                          <a:latin typeface="Calibri" pitchFamily="34" charset="0"/>
                          <a:ea typeface="Calibri" pitchFamily="34" charset="-122"/>
                          <a:cs typeface="Calibri" pitchFamily="34" charset="-120"/>
                        </a:rPr>
                        <a:t>4 Agent dự án</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40.000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3.050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l" indent="0" marL="0">
                        <a:buNone/>
                      </a:pPr>
                      <a:r>
                        <a:rPr lang="en-US" sz="1100" dirty="0">
                          <a:solidFill>
                            <a:srgbClr val="13222D"/>
                          </a:solidFill>
                          <a:latin typeface="Calibri" pitchFamily="34" charset="0"/>
                          <a:ea typeface="Calibri" pitchFamily="34" charset="-122"/>
                          <a:cs typeface="Calibri" pitchFamily="34" charset="-120"/>
                        </a:rPr>
                        <a:t>Haiku 70% / Sonnet 30%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algn="l" indent="0" marL="0">
                        <a:buNone/>
                      </a:pPr>
                      <a:r>
                        <a:rPr lang="en-US" sz="1100" dirty="0">
                          <a:solidFill>
                            <a:srgbClr val="13222D"/>
                          </a:solidFill>
                          <a:latin typeface="Calibri" pitchFamily="34" charset="0"/>
                          <a:ea typeface="Calibri" pitchFamily="34" charset="-122"/>
                          <a:cs typeface="Calibri" pitchFamily="34" charset="-120"/>
                        </a:rPr>
                        <a:t>5 Thiết kế</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6.000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3222D"/>
                          </a:solidFill>
                          <a:latin typeface="Calibri" pitchFamily="34" charset="0"/>
                          <a:ea typeface="Calibri" pitchFamily="34" charset="-122"/>
                          <a:cs typeface="Calibri" pitchFamily="34" charset="-120"/>
                        </a:rPr>
                        <a:t>1.220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22D"/>
                          </a:solidFill>
                          <a:latin typeface="Calibri" pitchFamily="34" charset="0"/>
                          <a:ea typeface="Calibri" pitchFamily="34" charset="-122"/>
                          <a:cs typeface="Calibri" pitchFamily="34" charset="-120"/>
                        </a:rPr>
                        <a:t>Sonnet 5.5 + 1,1 ảnh</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bl>
          </a:graphicData>
        </a:graphic>
      </p:graphicFrame>
      <p:sp>
        <p:nvSpPr>
          <p:cNvPr id="19" name="Shape 16"/>
          <p:cNvSpPr/>
          <p:nvPr/>
        </p:nvSpPr>
        <p:spPr>
          <a:xfrm>
            <a:off x="6126480" y="2286000"/>
            <a:ext cx="2560320" cy="1645920"/>
          </a:xfrm>
          <a:prstGeom prst="roundRect">
            <a:avLst>
              <a:gd name="adj" fmla="val 4444"/>
            </a:avLst>
          </a:prstGeom>
          <a:solidFill>
            <a:srgbClr val="F2F6F9"/>
          </a:solidFill>
          <a:ln w="12700">
            <a:solidFill>
              <a:srgbClr val="F2F6F9"/>
            </a:solidFill>
            <a:prstDash val="solid"/>
          </a:ln>
        </p:spPr>
      </p:sp>
      <p:sp>
        <p:nvSpPr>
          <p:cNvPr id="20" name="Text 17"/>
          <p:cNvSpPr/>
          <p:nvPr/>
        </p:nvSpPr>
        <p:spPr>
          <a:xfrm>
            <a:off x="6263640" y="2359152"/>
            <a:ext cx="2331720" cy="1508760"/>
          </a:xfrm>
          <a:prstGeom prst="rect">
            <a:avLst/>
          </a:prstGeom>
          <a:noFill/>
          <a:ln/>
        </p:spPr>
        <p:txBody>
          <a:bodyPr wrap="square" lIns="0" tIns="0" rIns="0" bIns="0" rtlCol="0" anchor="t"/>
          <a:lstStyle/>
          <a:p>
            <a:pPr indent="0" marL="0">
              <a:buNone/>
            </a:pPr>
            <a:r>
              <a:rPr lang="en-US" sz="1200" b="1" dirty="0">
                <a:solidFill>
                  <a:srgbClr val="0B2536"/>
                </a:solidFill>
                <a:latin typeface="Calibri" pitchFamily="34" charset="0"/>
                <a:ea typeface="Calibri" pitchFamily="34" charset="-122"/>
                <a:cs typeface="Calibri" pitchFamily="34" charset="-120"/>
              </a:rPr>
              <a:t>Quy mô phụ</a:t>
            </a:r>
            <a:endParaRPr lang="en-US" sz="1200" dirty="0"/>
          </a:p>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324.500 lượt sandbox/tháng (~38 chạy cùng lúc)</a:t>
            </a:r>
            <a:endParaRPr lang="en-US" sz="1200" dirty="0"/>
          </a:p>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Workspace ~4 TB (2 GB/người)</a:t>
            </a:r>
            <a:endParaRPr lang="en-US" sz="1200" dirty="0"/>
          </a:p>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Log 22 GB/tháng</a:t>
            </a:r>
            <a:endParaRPr lang="en-US" sz="1200" dirty="0"/>
          </a:p>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1,76 triệu lệnh gọi connector</a:t>
            </a:r>
            <a:endParaRPr lang="en-US" sz="1200" dirty="0"/>
          </a:p>
        </p:txBody>
      </p:sp>
      <p:sp>
        <p:nvSpPr>
          <p:cNvPr id="21" name="Text 18"/>
          <p:cNvSpPr/>
          <p:nvPr/>
        </p:nvSpPr>
        <p:spPr>
          <a:xfrm>
            <a:off x="457200" y="4114800"/>
            <a:ext cx="8229600" cy="457200"/>
          </a:xfrm>
          <a:prstGeom prst="rect">
            <a:avLst/>
          </a:prstGeom>
          <a:noFill/>
          <a:ln/>
        </p:spPr>
        <p:txBody>
          <a:bodyPr wrap="square" lIns="0" tIns="0" rIns="0" bIns="0" rtlCol="0" anchor="ctr"/>
          <a:lstStyle/>
          <a:p>
            <a:pPr indent="0" marL="0">
              <a:buNone/>
            </a:pPr>
            <a:r>
              <a:rPr lang="en-US" sz="1200" dirty="0">
                <a:solidFill>
                  <a:srgbClr val="586A77"/>
                </a:solidFill>
                <a:latin typeface="Calibri" pitchFamily="34" charset="0"/>
                <a:ea typeface="Calibri" pitchFamily="34" charset="-122"/>
                <a:cs typeface="Calibri" pitchFamily="34" charset="-120"/>
              </a:rPr>
              <a:t>Tổng 11,4 tỷ token vào và ~1,4 tỷ token ra mỗi tháng. Công thức đầy đủ trong docs/uoc-luong-tai.xlsx.</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Kiến trúc tổng thể</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AWS Singapore (ap-southeast-1), DR ở Sydney. Mã trên mỗi hộp là mã component trong báo giá.</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2 / 14</a:t>
            </a:r>
            <a:endParaRPr lang="en-US" sz="900" dirty="0"/>
          </a:p>
        </p:txBody>
      </p:sp>
      <p:sp>
        <p:nvSpPr>
          <p:cNvPr id="6" name="Shape 4"/>
          <p:cNvSpPr/>
          <p:nvPr/>
        </p:nvSpPr>
        <p:spPr>
          <a:xfrm>
            <a:off x="365760" y="1097280"/>
            <a:ext cx="1417320" cy="530352"/>
          </a:xfrm>
          <a:prstGeom prst="roundRect">
            <a:avLst>
              <a:gd name="adj" fmla="val 10345"/>
            </a:avLst>
          </a:prstGeom>
          <a:solidFill>
            <a:srgbClr val="F2F6F9"/>
          </a:solidFill>
          <a:ln w="9525">
            <a:solidFill>
              <a:srgbClr val="D2DCE3"/>
            </a:solidFill>
            <a:prstDash val="solid"/>
          </a:ln>
        </p:spPr>
      </p:sp>
      <p:sp>
        <p:nvSpPr>
          <p:cNvPr id="7" name="Text 5"/>
          <p:cNvSpPr/>
          <p:nvPr/>
        </p:nvSpPr>
        <p:spPr>
          <a:xfrm>
            <a:off x="429768" y="1124712"/>
            <a:ext cx="128930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người dùng</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Trình duyệt, SSO + MFA</a:t>
            </a:r>
            <a:endParaRPr lang="en-US" sz="900" dirty="0"/>
          </a:p>
        </p:txBody>
      </p:sp>
      <p:sp>
        <p:nvSpPr>
          <p:cNvPr id="8" name="Shape 6"/>
          <p:cNvSpPr/>
          <p:nvPr/>
        </p:nvSpPr>
        <p:spPr>
          <a:xfrm>
            <a:off x="365760" y="1737360"/>
            <a:ext cx="1417320" cy="530352"/>
          </a:xfrm>
          <a:prstGeom prst="roundRect">
            <a:avLst>
              <a:gd name="adj" fmla="val 10345"/>
            </a:avLst>
          </a:prstGeom>
          <a:solidFill>
            <a:srgbClr val="F2F6F9"/>
          </a:solidFill>
          <a:ln w="9525">
            <a:solidFill>
              <a:srgbClr val="D2DCE3"/>
            </a:solidFill>
            <a:prstDash val="solid"/>
          </a:ln>
        </p:spPr>
      </p:sp>
      <p:sp>
        <p:nvSpPr>
          <p:cNvPr id="9" name="Text 7"/>
          <p:cNvSpPr/>
          <p:nvPr/>
        </p:nvSpPr>
        <p:spPr>
          <a:xfrm>
            <a:off x="429768" y="1764792"/>
            <a:ext cx="128930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authn</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Cognito ↔ IdP tập đoàn</a:t>
            </a:r>
            <a:endParaRPr lang="en-US" sz="900" dirty="0"/>
          </a:p>
        </p:txBody>
      </p:sp>
      <p:sp>
        <p:nvSpPr>
          <p:cNvPr id="10" name="Shape 8"/>
          <p:cNvSpPr/>
          <p:nvPr/>
        </p:nvSpPr>
        <p:spPr>
          <a:xfrm>
            <a:off x="365760" y="2377440"/>
            <a:ext cx="1417320" cy="530352"/>
          </a:xfrm>
          <a:prstGeom prst="roundRect">
            <a:avLst>
              <a:gd name="adj" fmla="val 10345"/>
            </a:avLst>
          </a:prstGeom>
          <a:solidFill>
            <a:srgbClr val="F2F6F9"/>
          </a:solidFill>
          <a:ln w="9525">
            <a:solidFill>
              <a:srgbClr val="D2DCE3"/>
            </a:solidFill>
            <a:prstDash val="solid"/>
          </a:ln>
        </p:spPr>
      </p:sp>
      <p:sp>
        <p:nvSpPr>
          <p:cNvPr id="11" name="Text 9"/>
          <p:cNvSpPr/>
          <p:nvPr/>
        </p:nvSpPr>
        <p:spPr>
          <a:xfrm>
            <a:off x="429768" y="2404872"/>
            <a:ext cx="128930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network</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Route 53 · WAF</a:t>
            </a:r>
            <a:endParaRPr lang="en-US" sz="900" dirty="0"/>
          </a:p>
        </p:txBody>
      </p:sp>
      <p:sp>
        <p:nvSpPr>
          <p:cNvPr id="12" name="Shape 10"/>
          <p:cNvSpPr/>
          <p:nvPr/>
        </p:nvSpPr>
        <p:spPr>
          <a:xfrm>
            <a:off x="365760" y="3017520"/>
            <a:ext cx="1417320" cy="530352"/>
          </a:xfrm>
          <a:prstGeom prst="roundRect">
            <a:avLst>
              <a:gd name="adj" fmla="val 10345"/>
            </a:avLst>
          </a:prstGeom>
          <a:solidFill>
            <a:srgbClr val="F2F6F9"/>
          </a:solidFill>
          <a:ln w="9525">
            <a:solidFill>
              <a:srgbClr val="D2DCE3"/>
            </a:solidFill>
            <a:prstDash val="solid"/>
          </a:ln>
        </p:spPr>
      </p:sp>
      <p:sp>
        <p:nvSpPr>
          <p:cNvPr id="13" name="Text 11"/>
          <p:cNvSpPr/>
          <p:nvPr/>
        </p:nvSpPr>
        <p:spPr>
          <a:xfrm>
            <a:off x="429768" y="3044952"/>
            <a:ext cx="128930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load_balancer</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ALB, 2 AZ</a:t>
            </a:r>
            <a:endParaRPr lang="en-US" sz="900" dirty="0"/>
          </a:p>
        </p:txBody>
      </p:sp>
      <p:sp>
        <p:nvSpPr>
          <p:cNvPr id="14" name="Shape 12"/>
          <p:cNvSpPr/>
          <p:nvPr/>
        </p:nvSpPr>
        <p:spPr>
          <a:xfrm>
            <a:off x="1069848" y="1627632"/>
            <a:ext cx="0" cy="109728"/>
          </a:xfrm>
          <a:prstGeom prst="line">
            <a:avLst/>
          </a:prstGeom>
          <a:noFill/>
          <a:ln w="15875">
            <a:solidFill>
              <a:srgbClr val="586A77"/>
            </a:solidFill>
            <a:prstDash val="solid"/>
            <a:tailEnd type="triangle"/>
          </a:ln>
        </p:spPr>
      </p:sp>
      <p:sp>
        <p:nvSpPr>
          <p:cNvPr id="15" name="Shape 13"/>
          <p:cNvSpPr/>
          <p:nvPr/>
        </p:nvSpPr>
        <p:spPr>
          <a:xfrm>
            <a:off x="1069848" y="2267712"/>
            <a:ext cx="0" cy="109728"/>
          </a:xfrm>
          <a:prstGeom prst="line">
            <a:avLst/>
          </a:prstGeom>
          <a:noFill/>
          <a:ln w="15875">
            <a:solidFill>
              <a:srgbClr val="586A77"/>
            </a:solidFill>
            <a:prstDash val="solid"/>
            <a:tailEnd type="triangle"/>
          </a:ln>
        </p:spPr>
      </p:sp>
      <p:sp>
        <p:nvSpPr>
          <p:cNvPr id="16" name="Shape 14"/>
          <p:cNvSpPr/>
          <p:nvPr/>
        </p:nvSpPr>
        <p:spPr>
          <a:xfrm>
            <a:off x="1069848" y="2907792"/>
            <a:ext cx="0" cy="109728"/>
          </a:xfrm>
          <a:prstGeom prst="line">
            <a:avLst/>
          </a:prstGeom>
          <a:noFill/>
          <a:ln w="15875">
            <a:solidFill>
              <a:srgbClr val="586A77"/>
            </a:solidFill>
            <a:prstDash val="solid"/>
            <a:tailEnd type="triangle"/>
          </a:ln>
        </p:spPr>
      </p:sp>
      <p:sp>
        <p:nvSpPr>
          <p:cNvPr id="17" name="Shape 15"/>
          <p:cNvSpPr/>
          <p:nvPr/>
        </p:nvSpPr>
        <p:spPr>
          <a:xfrm>
            <a:off x="2057400" y="1097280"/>
            <a:ext cx="2011680" cy="3044952"/>
          </a:xfrm>
          <a:prstGeom prst="roundRect">
            <a:avLst>
              <a:gd name="adj" fmla="val 3636"/>
            </a:avLst>
          </a:prstGeom>
          <a:solidFill>
            <a:srgbClr val="D9EDF6"/>
          </a:solidFill>
          <a:ln w="12700">
            <a:solidFill>
              <a:srgbClr val="D9EDF6"/>
            </a:solidFill>
            <a:prstDash val="solid"/>
          </a:ln>
        </p:spPr>
      </p:sp>
      <p:sp>
        <p:nvSpPr>
          <p:cNvPr id="18" name="Text 16"/>
          <p:cNvSpPr/>
          <p:nvPr/>
        </p:nvSpPr>
        <p:spPr>
          <a:xfrm>
            <a:off x="2130552" y="1133856"/>
            <a:ext cx="1874520" cy="228600"/>
          </a:xfrm>
          <a:prstGeom prst="rect">
            <a:avLst/>
          </a:prstGeom>
          <a:noFill/>
          <a:ln/>
        </p:spPr>
        <p:txBody>
          <a:bodyPr wrap="square" lIns="0" tIns="0" rIns="0" bIns="0" rtlCol="0" anchor="ctr"/>
          <a:lstStyle/>
          <a:p>
            <a:pPr indent="0" marL="0">
              <a:buNone/>
            </a:pPr>
            <a:r>
              <a:rPr lang="en-US" sz="850" b="1" dirty="0">
                <a:solidFill>
                  <a:srgbClr val="0B6E99"/>
                </a:solidFill>
                <a:latin typeface="Courier New" pitchFamily="34" charset="0"/>
                <a:ea typeface="Courier New" pitchFamily="34" charset="-122"/>
                <a:cs typeface="Courier New" pitchFamily="34" charset="-120"/>
              </a:rPr>
              <a:t>compute · Fargate ARM, 2 AZ</a:t>
            </a:r>
            <a:endParaRPr lang="en-US" sz="850" dirty="0"/>
          </a:p>
        </p:txBody>
      </p:sp>
      <p:sp>
        <p:nvSpPr>
          <p:cNvPr id="19" name="Shape 17"/>
          <p:cNvSpPr/>
          <p:nvPr/>
        </p:nvSpPr>
        <p:spPr>
          <a:xfrm>
            <a:off x="2148840" y="1417320"/>
            <a:ext cx="1828800" cy="640080"/>
          </a:xfrm>
          <a:prstGeom prst="roundRect">
            <a:avLst>
              <a:gd name="adj" fmla="val 8571"/>
            </a:avLst>
          </a:prstGeom>
          <a:solidFill>
            <a:srgbClr val="FFFFFF"/>
          </a:solidFill>
          <a:ln w="9525">
            <a:solidFill>
              <a:srgbClr val="D2DCE3"/>
            </a:solidFill>
            <a:prstDash val="solid"/>
          </a:ln>
        </p:spPr>
      </p:sp>
      <p:sp>
        <p:nvSpPr>
          <p:cNvPr id="20" name="Text 18"/>
          <p:cNvSpPr/>
          <p:nvPr/>
        </p:nvSpPr>
        <p:spPr>
          <a:xfrm>
            <a:off x="2212848" y="1444752"/>
            <a:ext cx="1700784" cy="585216"/>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app / API</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authz: Verified Permissions + RLS</a:t>
            </a:r>
            <a:endParaRPr lang="en-US" sz="900" dirty="0"/>
          </a:p>
        </p:txBody>
      </p:sp>
      <p:sp>
        <p:nvSpPr>
          <p:cNvPr id="21" name="Shape 19"/>
          <p:cNvSpPr/>
          <p:nvPr/>
        </p:nvSpPr>
        <p:spPr>
          <a:xfrm>
            <a:off x="2148840" y="2148840"/>
            <a:ext cx="1828800" cy="640080"/>
          </a:xfrm>
          <a:prstGeom prst="roundRect">
            <a:avLst>
              <a:gd name="adj" fmla="val 8571"/>
            </a:avLst>
          </a:prstGeom>
          <a:solidFill>
            <a:srgbClr val="FFFFFF"/>
          </a:solidFill>
          <a:ln w="9525">
            <a:solidFill>
              <a:srgbClr val="D2DCE3"/>
            </a:solidFill>
            <a:prstDash val="solid"/>
          </a:ln>
        </p:spPr>
      </p:sp>
      <p:sp>
        <p:nvSpPr>
          <p:cNvPr id="22" name="Text 20"/>
          <p:cNvSpPr/>
          <p:nvPr/>
        </p:nvSpPr>
        <p:spPr>
          <a:xfrm>
            <a:off x="2212848" y="2176272"/>
            <a:ext cx="1700784" cy="585216"/>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gateway</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LiteLLM: quota, routing, fallback</a:t>
            </a:r>
            <a:endParaRPr lang="en-US" sz="900" dirty="0"/>
          </a:p>
        </p:txBody>
      </p:sp>
      <p:sp>
        <p:nvSpPr>
          <p:cNvPr id="23" name="Shape 21"/>
          <p:cNvSpPr/>
          <p:nvPr/>
        </p:nvSpPr>
        <p:spPr>
          <a:xfrm>
            <a:off x="2148840" y="2880360"/>
            <a:ext cx="1828800" cy="640080"/>
          </a:xfrm>
          <a:prstGeom prst="roundRect">
            <a:avLst>
              <a:gd name="adj" fmla="val 8571"/>
            </a:avLst>
          </a:prstGeom>
          <a:solidFill>
            <a:srgbClr val="FFFFFF"/>
          </a:solidFill>
          <a:ln w="9525">
            <a:solidFill>
              <a:srgbClr val="D2DCE3"/>
            </a:solidFill>
            <a:prstDash val="solid"/>
          </a:ln>
        </p:spPr>
      </p:sp>
      <p:sp>
        <p:nvSpPr>
          <p:cNvPr id="24" name="Text 22"/>
          <p:cNvSpPr/>
          <p:nvPr/>
        </p:nvSpPr>
        <p:spPr>
          <a:xfrm>
            <a:off x="2212848" y="2907792"/>
            <a:ext cx="1700784" cy="585216"/>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worker agent</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Hàng đợi SQS, chạy nền cấp 4</a:t>
            </a:r>
            <a:endParaRPr lang="en-US" sz="900" dirty="0"/>
          </a:p>
        </p:txBody>
      </p:sp>
      <p:sp>
        <p:nvSpPr>
          <p:cNvPr id="25" name="Text 23"/>
          <p:cNvSpPr/>
          <p:nvPr/>
        </p:nvSpPr>
        <p:spPr>
          <a:xfrm>
            <a:off x="2130552" y="3657600"/>
            <a:ext cx="1874520" cy="274320"/>
          </a:xfrm>
          <a:prstGeom prst="rect">
            <a:avLst/>
          </a:prstGeom>
          <a:noFill/>
          <a:ln/>
        </p:spPr>
        <p:txBody>
          <a:bodyPr wrap="square" lIns="0" tIns="0" rIns="0" bIns="0" rtlCol="0" anchor="ctr"/>
          <a:lstStyle/>
          <a:p>
            <a:pPr indent="0" marL="0">
              <a:buNone/>
            </a:pPr>
            <a:r>
              <a:rPr lang="en-US" sz="1000" i="1" dirty="0">
                <a:solidFill>
                  <a:srgbClr val="586A77"/>
                </a:solidFill>
                <a:latin typeface="Calibri" pitchFamily="34" charset="0"/>
                <a:ea typeface="Calibri" pitchFamily="34" charset="-122"/>
                <a:cs typeface="Calibri" pitchFamily="34" charset="-120"/>
              </a:rPr>
              <a:t>staging: tắt ngoài giờ</a:t>
            </a:r>
            <a:endParaRPr lang="en-US" sz="1000" dirty="0"/>
          </a:p>
        </p:txBody>
      </p:sp>
      <p:sp>
        <p:nvSpPr>
          <p:cNvPr id="26" name="Shape 24"/>
          <p:cNvSpPr/>
          <p:nvPr/>
        </p:nvSpPr>
        <p:spPr>
          <a:xfrm>
            <a:off x="1783080" y="3282696"/>
            <a:ext cx="274320" cy="0"/>
          </a:xfrm>
          <a:prstGeom prst="line">
            <a:avLst/>
          </a:prstGeom>
          <a:noFill/>
          <a:ln w="15875">
            <a:solidFill>
              <a:srgbClr val="586A77"/>
            </a:solidFill>
            <a:prstDash val="solid"/>
            <a:tailEnd type="triangle"/>
          </a:ln>
        </p:spPr>
      </p:sp>
      <p:sp>
        <p:nvSpPr>
          <p:cNvPr id="27" name="Shape 25"/>
          <p:cNvSpPr/>
          <p:nvPr/>
        </p:nvSpPr>
        <p:spPr>
          <a:xfrm>
            <a:off x="4343400" y="1097280"/>
            <a:ext cx="2240280" cy="530352"/>
          </a:xfrm>
          <a:prstGeom prst="roundRect">
            <a:avLst>
              <a:gd name="adj" fmla="val 10345"/>
            </a:avLst>
          </a:prstGeom>
          <a:solidFill>
            <a:srgbClr val="F2F6F9"/>
          </a:solidFill>
          <a:ln w="9525">
            <a:solidFill>
              <a:srgbClr val="D2DCE3"/>
            </a:solidFill>
            <a:prstDash val="solid"/>
          </a:ln>
        </p:spPr>
      </p:sp>
      <p:sp>
        <p:nvSpPr>
          <p:cNvPr id="28" name="Text 26"/>
          <p:cNvSpPr/>
          <p:nvPr/>
        </p:nvSpPr>
        <p:spPr>
          <a:xfrm>
            <a:off x="4407408" y="1124712"/>
            <a:ext cx="211226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llm</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Bedrock: Haiku / Sonnet 5.5 qua VPC endpoint</a:t>
            </a:r>
            <a:endParaRPr lang="en-US" sz="900" dirty="0"/>
          </a:p>
        </p:txBody>
      </p:sp>
      <p:sp>
        <p:nvSpPr>
          <p:cNvPr id="29" name="Shape 27"/>
          <p:cNvSpPr/>
          <p:nvPr/>
        </p:nvSpPr>
        <p:spPr>
          <a:xfrm>
            <a:off x="4343400" y="1719072"/>
            <a:ext cx="2240280" cy="530352"/>
          </a:xfrm>
          <a:prstGeom prst="roundRect">
            <a:avLst>
              <a:gd name="adj" fmla="val 10345"/>
            </a:avLst>
          </a:prstGeom>
          <a:solidFill>
            <a:srgbClr val="F2F6F9"/>
          </a:solidFill>
          <a:ln w="9525">
            <a:solidFill>
              <a:srgbClr val="D2DCE3"/>
            </a:solidFill>
            <a:prstDash val="solid"/>
          </a:ln>
        </p:spPr>
      </p:sp>
      <p:sp>
        <p:nvSpPr>
          <p:cNvPr id="30" name="Text 28"/>
          <p:cNvSpPr/>
          <p:nvPr/>
        </p:nvSpPr>
        <p:spPr>
          <a:xfrm>
            <a:off x="4407408" y="1746504"/>
            <a:ext cx="211226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governance</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Guardrails · Presidio (che PII)</a:t>
            </a:r>
            <a:endParaRPr lang="en-US" sz="900" dirty="0"/>
          </a:p>
        </p:txBody>
      </p:sp>
      <p:sp>
        <p:nvSpPr>
          <p:cNvPr id="31" name="Shape 29"/>
          <p:cNvSpPr/>
          <p:nvPr/>
        </p:nvSpPr>
        <p:spPr>
          <a:xfrm>
            <a:off x="4343400" y="2340864"/>
            <a:ext cx="2240280" cy="530352"/>
          </a:xfrm>
          <a:prstGeom prst="roundRect">
            <a:avLst>
              <a:gd name="adj" fmla="val 10345"/>
            </a:avLst>
          </a:prstGeom>
          <a:solidFill>
            <a:srgbClr val="F2F6F9"/>
          </a:solidFill>
          <a:ln w="9525">
            <a:solidFill>
              <a:srgbClr val="D2DCE3"/>
            </a:solidFill>
            <a:prstDash val="solid"/>
          </a:ln>
        </p:spPr>
      </p:sp>
      <p:sp>
        <p:nvSpPr>
          <p:cNvPr id="32" name="Text 30"/>
          <p:cNvSpPr/>
          <p:nvPr/>
        </p:nvSpPr>
        <p:spPr>
          <a:xfrm>
            <a:off x="4407408" y="2368296"/>
            <a:ext cx="211226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embedding</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Cohere Embed Multilingual</a:t>
            </a:r>
            <a:endParaRPr lang="en-US" sz="900" dirty="0"/>
          </a:p>
        </p:txBody>
      </p:sp>
      <p:sp>
        <p:nvSpPr>
          <p:cNvPr id="33" name="Shape 31"/>
          <p:cNvSpPr/>
          <p:nvPr/>
        </p:nvSpPr>
        <p:spPr>
          <a:xfrm>
            <a:off x="4343400" y="2962656"/>
            <a:ext cx="2240280" cy="530352"/>
          </a:xfrm>
          <a:prstGeom prst="roundRect">
            <a:avLst>
              <a:gd name="adj" fmla="val 10345"/>
            </a:avLst>
          </a:prstGeom>
          <a:solidFill>
            <a:srgbClr val="F2F6F9"/>
          </a:solidFill>
          <a:ln w="9525">
            <a:solidFill>
              <a:srgbClr val="D2DCE3"/>
            </a:solidFill>
            <a:prstDash val="solid"/>
          </a:ln>
        </p:spPr>
      </p:sp>
      <p:sp>
        <p:nvSpPr>
          <p:cNvPr id="34" name="Text 32"/>
          <p:cNvSpPr/>
          <p:nvPr/>
        </p:nvSpPr>
        <p:spPr>
          <a:xfrm>
            <a:off x="4407408" y="2990088"/>
            <a:ext cx="211226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sandbox</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Lambda microVM, không có NAT</a:t>
            </a:r>
            <a:endParaRPr lang="en-US" sz="900" dirty="0"/>
          </a:p>
        </p:txBody>
      </p:sp>
      <p:sp>
        <p:nvSpPr>
          <p:cNvPr id="35" name="Shape 33"/>
          <p:cNvSpPr/>
          <p:nvPr/>
        </p:nvSpPr>
        <p:spPr>
          <a:xfrm>
            <a:off x="4343400" y="3584448"/>
            <a:ext cx="2240280" cy="530352"/>
          </a:xfrm>
          <a:prstGeom prst="roundRect">
            <a:avLst>
              <a:gd name="adj" fmla="val 10345"/>
            </a:avLst>
          </a:prstGeom>
          <a:solidFill>
            <a:srgbClr val="F2F6F9"/>
          </a:solidFill>
          <a:ln w="9525">
            <a:solidFill>
              <a:srgbClr val="D2DCE3"/>
            </a:solidFill>
            <a:prstDash val="solid"/>
          </a:ln>
        </p:spPr>
      </p:sp>
      <p:sp>
        <p:nvSpPr>
          <p:cNvPr id="36" name="Text 34"/>
          <p:cNvSpPr/>
          <p:nvPr/>
        </p:nvSpPr>
        <p:spPr>
          <a:xfrm>
            <a:off x="4407408" y="3611880"/>
            <a:ext cx="211226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ảnh cấp 5</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Stable Image Core, us-west-2</a:t>
            </a:r>
            <a:endParaRPr lang="en-US" sz="900" dirty="0"/>
          </a:p>
        </p:txBody>
      </p:sp>
      <p:sp>
        <p:nvSpPr>
          <p:cNvPr id="37" name="Shape 35"/>
          <p:cNvSpPr/>
          <p:nvPr/>
        </p:nvSpPr>
        <p:spPr>
          <a:xfrm>
            <a:off x="4069080" y="2606040"/>
            <a:ext cx="274320" cy="0"/>
          </a:xfrm>
          <a:prstGeom prst="line">
            <a:avLst/>
          </a:prstGeom>
          <a:noFill/>
          <a:ln w="15875">
            <a:solidFill>
              <a:srgbClr val="586A77"/>
            </a:solidFill>
            <a:prstDash val="solid"/>
            <a:tailEnd type="triangle"/>
          </a:ln>
        </p:spPr>
      </p:sp>
      <p:sp>
        <p:nvSpPr>
          <p:cNvPr id="38" name="Shape 36"/>
          <p:cNvSpPr/>
          <p:nvPr/>
        </p:nvSpPr>
        <p:spPr>
          <a:xfrm>
            <a:off x="6858000" y="1097280"/>
            <a:ext cx="1920240" cy="530352"/>
          </a:xfrm>
          <a:prstGeom prst="roundRect">
            <a:avLst>
              <a:gd name="adj" fmla="val 10345"/>
            </a:avLst>
          </a:prstGeom>
          <a:solidFill>
            <a:srgbClr val="F2F6F9"/>
          </a:solidFill>
          <a:ln w="9525">
            <a:solidFill>
              <a:srgbClr val="D2DCE3"/>
            </a:solidFill>
            <a:prstDash val="solid"/>
          </a:ln>
        </p:spPr>
      </p:sp>
      <p:sp>
        <p:nvSpPr>
          <p:cNvPr id="39" name="Text 37"/>
          <p:cNvSpPr/>
          <p:nvPr/>
        </p:nvSpPr>
        <p:spPr>
          <a:xfrm>
            <a:off x="6922008" y="1124712"/>
            <a:ext cx="179222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database + vector_db</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RDS PostgreSQL Multi-AZ, pgvector</a:t>
            </a:r>
            <a:endParaRPr lang="en-US" sz="900" dirty="0"/>
          </a:p>
        </p:txBody>
      </p:sp>
      <p:sp>
        <p:nvSpPr>
          <p:cNvPr id="40" name="Shape 38"/>
          <p:cNvSpPr/>
          <p:nvPr/>
        </p:nvSpPr>
        <p:spPr>
          <a:xfrm>
            <a:off x="6858000" y="1719072"/>
            <a:ext cx="1920240" cy="530352"/>
          </a:xfrm>
          <a:prstGeom prst="roundRect">
            <a:avLst>
              <a:gd name="adj" fmla="val 10345"/>
            </a:avLst>
          </a:prstGeom>
          <a:solidFill>
            <a:srgbClr val="F2F6F9"/>
          </a:solidFill>
          <a:ln w="9525">
            <a:solidFill>
              <a:srgbClr val="D2DCE3"/>
            </a:solidFill>
            <a:prstDash val="solid"/>
          </a:ln>
        </p:spPr>
      </p:sp>
      <p:sp>
        <p:nvSpPr>
          <p:cNvPr id="41" name="Text 39"/>
          <p:cNvSpPr/>
          <p:nvPr/>
        </p:nvSpPr>
        <p:spPr>
          <a:xfrm>
            <a:off x="6922008" y="1746504"/>
            <a:ext cx="179222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cache_queue</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ElastiCache · SQS</a:t>
            </a:r>
            <a:endParaRPr lang="en-US" sz="900" dirty="0"/>
          </a:p>
        </p:txBody>
      </p:sp>
      <p:sp>
        <p:nvSpPr>
          <p:cNvPr id="42" name="Shape 40"/>
          <p:cNvSpPr/>
          <p:nvPr/>
        </p:nvSpPr>
        <p:spPr>
          <a:xfrm>
            <a:off x="6858000" y="2340864"/>
            <a:ext cx="1920240" cy="530352"/>
          </a:xfrm>
          <a:prstGeom prst="roundRect">
            <a:avLst>
              <a:gd name="adj" fmla="val 10345"/>
            </a:avLst>
          </a:prstGeom>
          <a:solidFill>
            <a:srgbClr val="F2F6F9"/>
          </a:solidFill>
          <a:ln w="9525">
            <a:solidFill>
              <a:srgbClr val="D2DCE3"/>
            </a:solidFill>
            <a:prstDash val="solid"/>
          </a:ln>
        </p:spPr>
      </p:sp>
      <p:sp>
        <p:nvSpPr>
          <p:cNvPr id="43" name="Text 41"/>
          <p:cNvSpPr/>
          <p:nvPr/>
        </p:nvSpPr>
        <p:spPr>
          <a:xfrm>
            <a:off x="6922008" y="2368296"/>
            <a:ext cx="179222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object_storage</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S3: workspace theo user</a:t>
            </a:r>
            <a:endParaRPr lang="en-US" sz="900" dirty="0"/>
          </a:p>
        </p:txBody>
      </p:sp>
      <p:sp>
        <p:nvSpPr>
          <p:cNvPr id="44" name="Shape 42"/>
          <p:cNvSpPr/>
          <p:nvPr/>
        </p:nvSpPr>
        <p:spPr>
          <a:xfrm>
            <a:off x="6858000" y="2962656"/>
            <a:ext cx="1920240" cy="530352"/>
          </a:xfrm>
          <a:prstGeom prst="roundRect">
            <a:avLst>
              <a:gd name="adj" fmla="val 10345"/>
            </a:avLst>
          </a:prstGeom>
          <a:solidFill>
            <a:srgbClr val="F2F6F9"/>
          </a:solidFill>
          <a:ln w="9525">
            <a:solidFill>
              <a:srgbClr val="D2DCE3"/>
            </a:solidFill>
            <a:prstDash val="solid"/>
          </a:ln>
        </p:spPr>
      </p:sp>
      <p:sp>
        <p:nvSpPr>
          <p:cNvPr id="45" name="Text 43"/>
          <p:cNvSpPr/>
          <p:nvPr/>
        </p:nvSpPr>
        <p:spPr>
          <a:xfrm>
            <a:off x="6922008" y="2990088"/>
            <a:ext cx="179222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secrets_kms</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KMS: khóa, token connector</a:t>
            </a:r>
            <a:endParaRPr lang="en-US" sz="900" dirty="0"/>
          </a:p>
        </p:txBody>
      </p:sp>
      <p:sp>
        <p:nvSpPr>
          <p:cNvPr id="46" name="Shape 44"/>
          <p:cNvSpPr/>
          <p:nvPr/>
        </p:nvSpPr>
        <p:spPr>
          <a:xfrm>
            <a:off x="6858000" y="3584448"/>
            <a:ext cx="1920240" cy="530352"/>
          </a:xfrm>
          <a:prstGeom prst="roundRect">
            <a:avLst>
              <a:gd name="adj" fmla="val 10345"/>
            </a:avLst>
          </a:prstGeom>
          <a:solidFill>
            <a:srgbClr val="F2F6F9"/>
          </a:solidFill>
          <a:ln w="9525">
            <a:solidFill>
              <a:srgbClr val="D2DCE3"/>
            </a:solidFill>
            <a:prstDash val="solid"/>
          </a:ln>
        </p:spPr>
      </p:sp>
      <p:sp>
        <p:nvSpPr>
          <p:cNvPr id="47" name="Text 45"/>
          <p:cNvSpPr/>
          <p:nvPr/>
        </p:nvSpPr>
        <p:spPr>
          <a:xfrm>
            <a:off x="6922008" y="3611880"/>
            <a:ext cx="1792224" cy="475488"/>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backup_dr</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Sao chép sang Sydney</a:t>
            </a:r>
            <a:endParaRPr lang="en-US" sz="900" dirty="0"/>
          </a:p>
        </p:txBody>
      </p:sp>
      <p:sp>
        <p:nvSpPr>
          <p:cNvPr id="48" name="Shape 46"/>
          <p:cNvSpPr/>
          <p:nvPr/>
        </p:nvSpPr>
        <p:spPr>
          <a:xfrm>
            <a:off x="6583680" y="2606040"/>
            <a:ext cx="274320" cy="0"/>
          </a:xfrm>
          <a:prstGeom prst="line">
            <a:avLst/>
          </a:prstGeom>
          <a:noFill/>
          <a:ln w="15875">
            <a:solidFill>
              <a:srgbClr val="586A77"/>
            </a:solidFill>
            <a:prstDash val="solid"/>
            <a:tailEnd type="triangle"/>
          </a:ln>
        </p:spPr>
      </p:sp>
      <p:sp>
        <p:nvSpPr>
          <p:cNvPr id="49" name="Shape 47"/>
          <p:cNvSpPr/>
          <p:nvPr/>
        </p:nvSpPr>
        <p:spPr>
          <a:xfrm>
            <a:off x="365760" y="4279392"/>
            <a:ext cx="3017520" cy="457200"/>
          </a:xfrm>
          <a:prstGeom prst="roundRect">
            <a:avLst>
              <a:gd name="adj" fmla="val 12000"/>
            </a:avLst>
          </a:prstGeom>
          <a:solidFill>
            <a:srgbClr val="F2F6F9"/>
          </a:solidFill>
          <a:ln w="9525">
            <a:solidFill>
              <a:srgbClr val="D2DCE3"/>
            </a:solidFill>
            <a:prstDash val="solid"/>
          </a:ln>
        </p:spPr>
      </p:sp>
      <p:sp>
        <p:nvSpPr>
          <p:cNvPr id="50" name="Text 48"/>
          <p:cNvSpPr/>
          <p:nvPr/>
        </p:nvSpPr>
        <p:spPr>
          <a:xfrm>
            <a:off x="429768" y="4306824"/>
            <a:ext cx="2889504" cy="402336"/>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connectors</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NAT → Google · M365 · Notion · Jira · Confluence</a:t>
            </a:r>
            <a:endParaRPr lang="en-US" sz="900" dirty="0"/>
          </a:p>
        </p:txBody>
      </p:sp>
      <p:sp>
        <p:nvSpPr>
          <p:cNvPr id="51" name="Shape 49"/>
          <p:cNvSpPr/>
          <p:nvPr/>
        </p:nvSpPr>
        <p:spPr>
          <a:xfrm>
            <a:off x="3474720" y="4279392"/>
            <a:ext cx="1828800" cy="457200"/>
          </a:xfrm>
          <a:prstGeom prst="roundRect">
            <a:avLst>
              <a:gd name="adj" fmla="val 12000"/>
            </a:avLst>
          </a:prstGeom>
          <a:solidFill>
            <a:srgbClr val="F2F6F9"/>
          </a:solidFill>
          <a:ln w="9525">
            <a:solidFill>
              <a:srgbClr val="D2DCE3"/>
            </a:solidFill>
            <a:prstDash val="solid"/>
          </a:ln>
        </p:spPr>
      </p:sp>
      <p:sp>
        <p:nvSpPr>
          <p:cNvPr id="52" name="Text 50"/>
          <p:cNvSpPr/>
          <p:nvPr/>
        </p:nvSpPr>
        <p:spPr>
          <a:xfrm>
            <a:off x="3538728" y="4306824"/>
            <a:ext cx="1700784" cy="402336"/>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monitoring</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CloudWatch · chi tiêu LiteLLM</a:t>
            </a:r>
            <a:endParaRPr lang="en-US" sz="900" dirty="0"/>
          </a:p>
        </p:txBody>
      </p:sp>
      <p:sp>
        <p:nvSpPr>
          <p:cNvPr id="53" name="Shape 51"/>
          <p:cNvSpPr/>
          <p:nvPr/>
        </p:nvSpPr>
        <p:spPr>
          <a:xfrm>
            <a:off x="5394960" y="4279392"/>
            <a:ext cx="2011680" cy="457200"/>
          </a:xfrm>
          <a:prstGeom prst="roundRect">
            <a:avLst>
              <a:gd name="adj" fmla="val 12000"/>
            </a:avLst>
          </a:prstGeom>
          <a:solidFill>
            <a:srgbClr val="F2F6F9"/>
          </a:solidFill>
          <a:ln w="9525">
            <a:solidFill>
              <a:srgbClr val="D2DCE3"/>
            </a:solidFill>
            <a:prstDash val="solid"/>
          </a:ln>
        </p:spPr>
      </p:sp>
      <p:sp>
        <p:nvSpPr>
          <p:cNvPr id="54" name="Text 52"/>
          <p:cNvSpPr/>
          <p:nvPr/>
        </p:nvSpPr>
        <p:spPr>
          <a:xfrm>
            <a:off x="5458968" y="4306824"/>
            <a:ext cx="1883664" cy="402336"/>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cicd</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GitHub Actions · ECR · Terraform</a:t>
            </a:r>
            <a:endParaRPr lang="en-US" sz="900" dirty="0"/>
          </a:p>
        </p:txBody>
      </p:sp>
      <p:sp>
        <p:nvSpPr>
          <p:cNvPr id="55" name="Shape 53"/>
          <p:cNvSpPr/>
          <p:nvPr/>
        </p:nvSpPr>
        <p:spPr>
          <a:xfrm>
            <a:off x="7498080" y="4279392"/>
            <a:ext cx="1280160" cy="457200"/>
          </a:xfrm>
          <a:prstGeom prst="roundRect">
            <a:avLst>
              <a:gd name="adj" fmla="val 12000"/>
            </a:avLst>
          </a:prstGeom>
          <a:solidFill>
            <a:srgbClr val="F2F6F9"/>
          </a:solidFill>
          <a:ln w="9525">
            <a:solidFill>
              <a:srgbClr val="D2DCE3"/>
            </a:solidFill>
            <a:prstDash val="solid"/>
          </a:ln>
        </p:spPr>
      </p:sp>
      <p:sp>
        <p:nvSpPr>
          <p:cNvPr id="56" name="Text 54"/>
          <p:cNvSpPr/>
          <p:nvPr/>
        </p:nvSpPr>
        <p:spPr>
          <a:xfrm>
            <a:off x="7562088" y="4306824"/>
            <a:ext cx="1152144" cy="402336"/>
          </a:xfrm>
          <a:prstGeom prst="rect">
            <a:avLst/>
          </a:prstGeom>
          <a:noFill/>
          <a:ln/>
        </p:spPr>
        <p:txBody>
          <a:bodyPr wrap="square" lIns="0" tIns="0" rIns="0" bIns="0" rtlCol="0" anchor="ctr"/>
          <a:lstStyle/>
          <a:p>
            <a:pPr indent="0" marL="0">
              <a:buNone/>
            </a:pPr>
            <a:r>
              <a:rPr lang="en-US" sz="900" b="1" dirty="0">
                <a:solidFill>
                  <a:srgbClr val="0B6E99"/>
                </a:solidFill>
                <a:latin typeface="Courier New" pitchFamily="34" charset="0"/>
                <a:ea typeface="Courier New" pitchFamily="34" charset="-122"/>
                <a:cs typeface="Courier New" pitchFamily="34" charset="-120"/>
              </a:rPr>
              <a:t>ops_labor</a:t>
            </a:r>
            <a:endParaRPr lang="en-US" sz="900" dirty="0"/>
          </a:p>
          <a:p>
            <a:pPr indent="0" marL="0">
              <a:buNone/>
            </a:pPr>
            <a:r>
              <a:rPr lang="en-US" sz="1000" dirty="0">
                <a:solidFill>
                  <a:srgbClr val="13222D"/>
                </a:solidFill>
                <a:latin typeface="Calibri" pitchFamily="34" charset="0"/>
                <a:ea typeface="Calibri" pitchFamily="34" charset="-122"/>
                <a:cs typeface="Calibri" pitchFamily="34" charset="-120"/>
              </a:rPr>
              <a:t>1,5 FTE</a:t>
            </a:r>
            <a:endParaRPr lang="en-US" sz="900" dirty="0"/>
          </a:p>
        </p:txBody>
      </p:sp>
      <p:sp>
        <p:nvSpPr>
          <p:cNvPr id="57" name="Shape 55"/>
          <p:cNvSpPr/>
          <p:nvPr/>
        </p:nvSpPr>
        <p:spPr>
          <a:xfrm>
            <a:off x="2743200" y="4142232"/>
            <a:ext cx="0" cy="137160"/>
          </a:xfrm>
          <a:prstGeom prst="line">
            <a:avLst/>
          </a:prstGeom>
          <a:noFill/>
          <a:ln w="15875">
            <a:solidFill>
              <a:srgbClr val="586A77"/>
            </a:solidFill>
            <a:prstDash val="solid"/>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Luồng một request</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Từ đăng nhập đến câu trả lời, và nơi mỗi lớp kiểm soát chen vào.</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3 / 14</a:t>
            </a:r>
            <a:endParaRPr lang="en-US" sz="900" dirty="0"/>
          </a:p>
        </p:txBody>
      </p:sp>
      <p:sp>
        <p:nvSpPr>
          <p:cNvPr id="6" name="Shape 4"/>
          <p:cNvSpPr/>
          <p:nvPr/>
        </p:nvSpPr>
        <p:spPr>
          <a:xfrm>
            <a:off x="457200" y="1188720"/>
            <a:ext cx="1965960" cy="1645920"/>
          </a:xfrm>
          <a:prstGeom prst="roundRect">
            <a:avLst>
              <a:gd name="adj" fmla="val 4444"/>
            </a:avLst>
          </a:prstGeom>
          <a:solidFill>
            <a:srgbClr val="F2F6F9"/>
          </a:solidFill>
          <a:ln w="12700">
            <a:solidFill>
              <a:srgbClr val="F2F6F9"/>
            </a:solidFill>
            <a:prstDash val="solid"/>
          </a:ln>
        </p:spPr>
      </p:sp>
      <p:sp>
        <p:nvSpPr>
          <p:cNvPr id="7" name="Text 5"/>
          <p:cNvSpPr/>
          <p:nvPr/>
        </p:nvSpPr>
        <p:spPr>
          <a:xfrm>
            <a:off x="566928" y="1280160"/>
            <a:ext cx="347472" cy="347472"/>
          </a:xfrm>
          <a:prstGeom prst="ellipse">
            <a:avLst/>
          </a:prstGeom>
          <a:solidFill>
            <a:srgbClr val="0B6E99"/>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987552" y="1280160"/>
            <a:ext cx="1371600" cy="34747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SSO</a:t>
            </a:r>
            <a:endParaRPr lang="en-US" sz="1300" dirty="0"/>
          </a:p>
        </p:txBody>
      </p:sp>
      <p:sp>
        <p:nvSpPr>
          <p:cNvPr id="9" name="Text 7"/>
          <p:cNvSpPr/>
          <p:nvPr/>
        </p:nvSpPr>
        <p:spPr>
          <a:xfrm>
            <a:off x="566928" y="1719072"/>
            <a:ext cx="1755648" cy="1051560"/>
          </a:xfrm>
          <a:prstGeom prst="rect">
            <a:avLst/>
          </a:prstGeom>
          <a:noFill/>
          <a:ln/>
        </p:spPr>
        <p:txBody>
          <a:bodyPr wrap="square" lIns="0" tIns="0" rIns="0" bIns="0" rtlCol="0" anchor="t"/>
          <a:lstStyle/>
          <a:p>
            <a:pPr indent="0" marL="0">
              <a:buNone/>
            </a:pPr>
            <a:r>
              <a:rPr lang="en-US" sz="1050" dirty="0">
                <a:solidFill>
                  <a:srgbClr val="13222D"/>
                </a:solidFill>
                <a:latin typeface="Calibri" pitchFamily="34" charset="0"/>
                <a:ea typeface="Calibri" pitchFamily="34" charset="-122"/>
                <a:cs typeface="Calibri" pitchFamily="34" charset="-120"/>
              </a:rPr>
              <a:t>Cognito liên kết SAML/OIDC với IdP tập đoàn, MFA ở IdP. Phát JWT theo người dùng.</a:t>
            </a:r>
            <a:endParaRPr lang="en-US" sz="1050" dirty="0"/>
          </a:p>
        </p:txBody>
      </p:sp>
      <p:sp>
        <p:nvSpPr>
          <p:cNvPr id="10" name="Shape 8"/>
          <p:cNvSpPr/>
          <p:nvPr/>
        </p:nvSpPr>
        <p:spPr>
          <a:xfrm>
            <a:off x="2542032" y="1188720"/>
            <a:ext cx="1965960" cy="1645920"/>
          </a:xfrm>
          <a:prstGeom prst="roundRect">
            <a:avLst>
              <a:gd name="adj" fmla="val 4444"/>
            </a:avLst>
          </a:prstGeom>
          <a:solidFill>
            <a:srgbClr val="F2F6F9"/>
          </a:solidFill>
          <a:ln w="12700">
            <a:solidFill>
              <a:srgbClr val="F2F6F9"/>
            </a:solidFill>
            <a:prstDash val="solid"/>
          </a:ln>
        </p:spPr>
      </p:sp>
      <p:sp>
        <p:nvSpPr>
          <p:cNvPr id="11" name="Text 9"/>
          <p:cNvSpPr/>
          <p:nvPr/>
        </p:nvSpPr>
        <p:spPr>
          <a:xfrm>
            <a:off x="2651760" y="1280160"/>
            <a:ext cx="347472" cy="347472"/>
          </a:xfrm>
          <a:prstGeom prst="ellipse">
            <a:avLst/>
          </a:prstGeom>
          <a:solidFill>
            <a:srgbClr val="0B6E99"/>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3072384" y="1280160"/>
            <a:ext cx="1371600" cy="34747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Vào hệ thống</a:t>
            </a:r>
            <a:endParaRPr lang="en-US" sz="1300" dirty="0"/>
          </a:p>
        </p:txBody>
      </p:sp>
      <p:sp>
        <p:nvSpPr>
          <p:cNvPr id="13" name="Text 11"/>
          <p:cNvSpPr/>
          <p:nvPr/>
        </p:nvSpPr>
        <p:spPr>
          <a:xfrm>
            <a:off x="2651760" y="1719072"/>
            <a:ext cx="1755648" cy="1051560"/>
          </a:xfrm>
          <a:prstGeom prst="rect">
            <a:avLst/>
          </a:prstGeom>
          <a:noFill/>
          <a:ln/>
        </p:spPr>
        <p:txBody>
          <a:bodyPr wrap="square" lIns="0" tIns="0" rIns="0" bIns="0" rtlCol="0" anchor="t"/>
          <a:lstStyle/>
          <a:p>
            <a:pPr indent="0" marL="0">
              <a:buNone/>
            </a:pPr>
            <a:r>
              <a:rPr lang="en-US" sz="1050" dirty="0">
                <a:solidFill>
                  <a:srgbClr val="13222D"/>
                </a:solidFill>
                <a:latin typeface="Calibri" pitchFamily="34" charset="0"/>
                <a:ea typeface="Calibri" pitchFamily="34" charset="-122"/>
                <a:cs typeface="Calibri" pitchFamily="34" charset="-120"/>
              </a:rPr>
              <a:t>WAF → ALB (2 AZ) → app trên Fargate.</a:t>
            </a:r>
            <a:endParaRPr lang="en-US" sz="1050" dirty="0"/>
          </a:p>
        </p:txBody>
      </p:sp>
      <p:sp>
        <p:nvSpPr>
          <p:cNvPr id="14" name="Shape 12"/>
          <p:cNvSpPr/>
          <p:nvPr/>
        </p:nvSpPr>
        <p:spPr>
          <a:xfrm>
            <a:off x="4626864" y="1188720"/>
            <a:ext cx="1965960" cy="1645920"/>
          </a:xfrm>
          <a:prstGeom prst="roundRect">
            <a:avLst>
              <a:gd name="adj" fmla="val 4444"/>
            </a:avLst>
          </a:prstGeom>
          <a:solidFill>
            <a:srgbClr val="F2F6F9"/>
          </a:solidFill>
          <a:ln w="12700">
            <a:solidFill>
              <a:srgbClr val="F2F6F9"/>
            </a:solidFill>
            <a:prstDash val="solid"/>
          </a:ln>
        </p:spPr>
      </p:sp>
      <p:sp>
        <p:nvSpPr>
          <p:cNvPr id="15" name="Text 13"/>
          <p:cNvSpPr/>
          <p:nvPr/>
        </p:nvSpPr>
        <p:spPr>
          <a:xfrm>
            <a:off x="4736592" y="1280160"/>
            <a:ext cx="347472" cy="347472"/>
          </a:xfrm>
          <a:prstGeom prst="ellipse">
            <a:avLst/>
          </a:prstGeom>
          <a:solidFill>
            <a:srgbClr val="0B6E99"/>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5157216" y="1280160"/>
            <a:ext cx="1371600" cy="34747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Phân quyền</a:t>
            </a:r>
            <a:endParaRPr lang="en-US" sz="1300" dirty="0"/>
          </a:p>
        </p:txBody>
      </p:sp>
      <p:sp>
        <p:nvSpPr>
          <p:cNvPr id="17" name="Text 15"/>
          <p:cNvSpPr/>
          <p:nvPr/>
        </p:nvSpPr>
        <p:spPr>
          <a:xfrm>
            <a:off x="4736592" y="1719072"/>
            <a:ext cx="1755648" cy="1051560"/>
          </a:xfrm>
          <a:prstGeom prst="rect">
            <a:avLst/>
          </a:prstGeom>
          <a:noFill/>
          <a:ln/>
        </p:spPr>
        <p:txBody>
          <a:bodyPr wrap="square" lIns="0" tIns="0" rIns="0" bIns="0" rtlCol="0" anchor="t"/>
          <a:lstStyle/>
          <a:p>
            <a:pPr indent="0" marL="0">
              <a:buNone/>
            </a:pPr>
            <a:r>
              <a:rPr lang="en-US" sz="1050" dirty="0">
                <a:solidFill>
                  <a:srgbClr val="13222D"/>
                </a:solidFill>
                <a:latin typeface="Calibri" pitchFamily="34" charset="0"/>
                <a:ea typeface="Calibri" pitchFamily="34" charset="-122"/>
                <a:cs typeface="Calibri" pitchFamily="34" charset="-120"/>
              </a:rPr>
              <a:t>Verified Permissions kiểm quyền chức năng; mọi truy vấn kèm user_id cho RLS.</a:t>
            </a:r>
            <a:endParaRPr lang="en-US" sz="1050" dirty="0"/>
          </a:p>
        </p:txBody>
      </p:sp>
      <p:sp>
        <p:nvSpPr>
          <p:cNvPr id="18" name="Shape 16"/>
          <p:cNvSpPr/>
          <p:nvPr/>
        </p:nvSpPr>
        <p:spPr>
          <a:xfrm>
            <a:off x="6711696" y="1188720"/>
            <a:ext cx="1965960" cy="1645920"/>
          </a:xfrm>
          <a:prstGeom prst="roundRect">
            <a:avLst>
              <a:gd name="adj" fmla="val 4444"/>
            </a:avLst>
          </a:prstGeom>
          <a:solidFill>
            <a:srgbClr val="F2F6F9"/>
          </a:solidFill>
          <a:ln w="12700">
            <a:solidFill>
              <a:srgbClr val="F2F6F9"/>
            </a:solidFill>
            <a:prstDash val="solid"/>
          </a:ln>
        </p:spPr>
      </p:sp>
      <p:sp>
        <p:nvSpPr>
          <p:cNvPr id="19" name="Text 17"/>
          <p:cNvSpPr/>
          <p:nvPr/>
        </p:nvSpPr>
        <p:spPr>
          <a:xfrm>
            <a:off x="6821424" y="1280160"/>
            <a:ext cx="347472" cy="347472"/>
          </a:xfrm>
          <a:prstGeom prst="ellipse">
            <a:avLst/>
          </a:prstGeom>
          <a:solidFill>
            <a:srgbClr val="0B6E99"/>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8"/>
          <p:cNvSpPr/>
          <p:nvPr/>
        </p:nvSpPr>
        <p:spPr>
          <a:xfrm>
            <a:off x="7242048" y="1280160"/>
            <a:ext cx="1371600" cy="34747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Guardrail vào</a:t>
            </a:r>
            <a:endParaRPr lang="en-US" sz="1300" dirty="0"/>
          </a:p>
        </p:txBody>
      </p:sp>
      <p:sp>
        <p:nvSpPr>
          <p:cNvPr id="21" name="Text 19"/>
          <p:cNvSpPr/>
          <p:nvPr/>
        </p:nvSpPr>
        <p:spPr>
          <a:xfrm>
            <a:off x="6821424" y="1719072"/>
            <a:ext cx="1755648" cy="1051560"/>
          </a:xfrm>
          <a:prstGeom prst="rect">
            <a:avLst/>
          </a:prstGeom>
          <a:noFill/>
          <a:ln/>
        </p:spPr>
        <p:txBody>
          <a:bodyPr wrap="square" lIns="0" tIns="0" rIns="0" bIns="0" rtlCol="0" anchor="t"/>
          <a:lstStyle/>
          <a:p>
            <a:pPr indent="0" marL="0">
              <a:buNone/>
            </a:pPr>
            <a:r>
              <a:rPr lang="en-US" sz="1050" dirty="0">
                <a:solidFill>
                  <a:srgbClr val="13222D"/>
                </a:solidFill>
                <a:latin typeface="Calibri" pitchFamily="34" charset="0"/>
                <a:ea typeface="Calibri" pitchFamily="34" charset="-122"/>
                <a:cs typeface="Calibri" pitchFamily="34" charset="-120"/>
              </a:rPr>
              <a:t>Lọc prompt, che PII bằng Presidio; nội dung connector bị coi là không tin cậy.</a:t>
            </a:r>
            <a:endParaRPr lang="en-US" sz="1050" dirty="0"/>
          </a:p>
        </p:txBody>
      </p:sp>
      <p:sp>
        <p:nvSpPr>
          <p:cNvPr id="22" name="Shape 20"/>
          <p:cNvSpPr/>
          <p:nvPr/>
        </p:nvSpPr>
        <p:spPr>
          <a:xfrm>
            <a:off x="457200" y="2971800"/>
            <a:ext cx="1965960" cy="1645920"/>
          </a:xfrm>
          <a:prstGeom prst="roundRect">
            <a:avLst>
              <a:gd name="adj" fmla="val 4444"/>
            </a:avLst>
          </a:prstGeom>
          <a:solidFill>
            <a:srgbClr val="F2F6F9"/>
          </a:solidFill>
          <a:ln w="12700">
            <a:solidFill>
              <a:srgbClr val="F2F6F9"/>
            </a:solidFill>
            <a:prstDash val="solid"/>
          </a:ln>
        </p:spPr>
      </p:sp>
      <p:sp>
        <p:nvSpPr>
          <p:cNvPr id="23" name="Text 21"/>
          <p:cNvSpPr/>
          <p:nvPr/>
        </p:nvSpPr>
        <p:spPr>
          <a:xfrm>
            <a:off x="566928" y="3063240"/>
            <a:ext cx="347472" cy="347472"/>
          </a:xfrm>
          <a:prstGeom prst="ellipse">
            <a:avLst/>
          </a:prstGeom>
          <a:solidFill>
            <a:srgbClr val="0B6E99"/>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4" name="Text 22"/>
          <p:cNvSpPr/>
          <p:nvPr/>
        </p:nvSpPr>
        <p:spPr>
          <a:xfrm>
            <a:off x="987552" y="3063240"/>
            <a:ext cx="1371600" cy="34747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Gateway</a:t>
            </a:r>
            <a:endParaRPr lang="en-US" sz="1300" dirty="0"/>
          </a:p>
        </p:txBody>
      </p:sp>
      <p:sp>
        <p:nvSpPr>
          <p:cNvPr id="25" name="Text 23"/>
          <p:cNvSpPr/>
          <p:nvPr/>
        </p:nvSpPr>
        <p:spPr>
          <a:xfrm>
            <a:off x="566928" y="3502152"/>
            <a:ext cx="1755648" cy="1051560"/>
          </a:xfrm>
          <a:prstGeom prst="rect">
            <a:avLst/>
          </a:prstGeom>
          <a:noFill/>
          <a:ln/>
        </p:spPr>
        <p:txBody>
          <a:bodyPr wrap="square" lIns="0" tIns="0" rIns="0" bIns="0" rtlCol="0" anchor="t"/>
          <a:lstStyle/>
          <a:p>
            <a:pPr indent="0" marL="0">
              <a:buNone/>
            </a:pPr>
            <a:r>
              <a:rPr lang="en-US" sz="1050" dirty="0">
                <a:solidFill>
                  <a:srgbClr val="13222D"/>
                </a:solidFill>
                <a:latin typeface="Calibri" pitchFamily="34" charset="0"/>
                <a:ea typeface="Calibri" pitchFamily="34" charset="-122"/>
                <a:cs typeface="Calibri" pitchFamily="34" charset="-120"/>
              </a:rPr>
              <a:t>LiteLLM chọn Haiku hay Sonnet theo cấp, áp quota, bật prompt cache.</a:t>
            </a:r>
            <a:endParaRPr lang="en-US" sz="1050" dirty="0"/>
          </a:p>
        </p:txBody>
      </p:sp>
      <p:sp>
        <p:nvSpPr>
          <p:cNvPr id="26" name="Shape 24"/>
          <p:cNvSpPr/>
          <p:nvPr/>
        </p:nvSpPr>
        <p:spPr>
          <a:xfrm>
            <a:off x="2542032" y="2971800"/>
            <a:ext cx="1965960" cy="1645920"/>
          </a:xfrm>
          <a:prstGeom prst="roundRect">
            <a:avLst>
              <a:gd name="adj" fmla="val 4444"/>
            </a:avLst>
          </a:prstGeom>
          <a:solidFill>
            <a:srgbClr val="F2F6F9"/>
          </a:solidFill>
          <a:ln w="12700">
            <a:solidFill>
              <a:srgbClr val="F2F6F9"/>
            </a:solidFill>
            <a:prstDash val="solid"/>
          </a:ln>
        </p:spPr>
      </p:sp>
      <p:sp>
        <p:nvSpPr>
          <p:cNvPr id="27" name="Text 25"/>
          <p:cNvSpPr/>
          <p:nvPr/>
        </p:nvSpPr>
        <p:spPr>
          <a:xfrm>
            <a:off x="2651760" y="3063240"/>
            <a:ext cx="347472" cy="347472"/>
          </a:xfrm>
          <a:prstGeom prst="ellipse">
            <a:avLst/>
          </a:prstGeom>
          <a:solidFill>
            <a:srgbClr val="0B6E99"/>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8" name="Text 26"/>
          <p:cNvSpPr/>
          <p:nvPr/>
        </p:nvSpPr>
        <p:spPr>
          <a:xfrm>
            <a:off x="3072384" y="3063240"/>
            <a:ext cx="1371600" cy="34747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Ngữ cảnh</a:t>
            </a:r>
            <a:endParaRPr lang="en-US" sz="1300" dirty="0"/>
          </a:p>
        </p:txBody>
      </p:sp>
      <p:sp>
        <p:nvSpPr>
          <p:cNvPr id="29" name="Text 27"/>
          <p:cNvSpPr/>
          <p:nvPr/>
        </p:nvSpPr>
        <p:spPr>
          <a:xfrm>
            <a:off x="2651760" y="3502152"/>
            <a:ext cx="1755648" cy="1051560"/>
          </a:xfrm>
          <a:prstGeom prst="rect">
            <a:avLst/>
          </a:prstGeom>
          <a:noFill/>
          <a:ln/>
        </p:spPr>
        <p:txBody>
          <a:bodyPr wrap="square" lIns="0" tIns="0" rIns="0" bIns="0" rtlCol="0" anchor="t"/>
          <a:lstStyle/>
          <a:p>
            <a:pPr indent="0" marL="0">
              <a:buNone/>
            </a:pPr>
            <a:r>
              <a:rPr lang="en-US" sz="1050" dirty="0">
                <a:solidFill>
                  <a:srgbClr val="13222D"/>
                </a:solidFill>
                <a:latin typeface="Calibri" pitchFamily="34" charset="0"/>
                <a:ea typeface="Calibri" pitchFamily="34" charset="-122"/>
                <a:cs typeface="Calibri" pitchFamily="34" charset="-120"/>
              </a:rPr>
              <a:t>pgvector lọc theo ACL gốc; connector gọi bằng OAuth của chính người dùng, token giải mã bằng KMS.</a:t>
            </a:r>
            <a:endParaRPr lang="en-US" sz="1050" dirty="0"/>
          </a:p>
        </p:txBody>
      </p:sp>
      <p:sp>
        <p:nvSpPr>
          <p:cNvPr id="30" name="Shape 28"/>
          <p:cNvSpPr/>
          <p:nvPr/>
        </p:nvSpPr>
        <p:spPr>
          <a:xfrm>
            <a:off x="4626864" y="2971800"/>
            <a:ext cx="1965960" cy="1645920"/>
          </a:xfrm>
          <a:prstGeom prst="roundRect">
            <a:avLst>
              <a:gd name="adj" fmla="val 4444"/>
            </a:avLst>
          </a:prstGeom>
          <a:solidFill>
            <a:srgbClr val="F2F6F9"/>
          </a:solidFill>
          <a:ln w="12700">
            <a:solidFill>
              <a:srgbClr val="F2F6F9"/>
            </a:solidFill>
            <a:prstDash val="solid"/>
          </a:ln>
        </p:spPr>
      </p:sp>
      <p:sp>
        <p:nvSpPr>
          <p:cNvPr id="31" name="Text 29"/>
          <p:cNvSpPr/>
          <p:nvPr/>
        </p:nvSpPr>
        <p:spPr>
          <a:xfrm>
            <a:off x="4736592" y="3063240"/>
            <a:ext cx="347472" cy="347472"/>
          </a:xfrm>
          <a:prstGeom prst="ellipse">
            <a:avLst/>
          </a:prstGeom>
          <a:solidFill>
            <a:srgbClr val="0B6E99"/>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2" name="Text 30"/>
          <p:cNvSpPr/>
          <p:nvPr/>
        </p:nvSpPr>
        <p:spPr>
          <a:xfrm>
            <a:off x="5157216" y="3063240"/>
            <a:ext cx="1371600" cy="34747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Công cụ</a:t>
            </a:r>
            <a:endParaRPr lang="en-US" sz="1300" dirty="0"/>
          </a:p>
        </p:txBody>
      </p:sp>
      <p:sp>
        <p:nvSpPr>
          <p:cNvPr id="33" name="Text 31"/>
          <p:cNvSpPr/>
          <p:nvPr/>
        </p:nvSpPr>
        <p:spPr>
          <a:xfrm>
            <a:off x="4736592" y="3502152"/>
            <a:ext cx="1755648" cy="1051560"/>
          </a:xfrm>
          <a:prstGeom prst="rect">
            <a:avLst/>
          </a:prstGeom>
          <a:noFill/>
          <a:ln/>
        </p:spPr>
        <p:txBody>
          <a:bodyPr wrap="square" lIns="0" tIns="0" rIns="0" bIns="0" rtlCol="0" anchor="t"/>
          <a:lstStyle/>
          <a:p>
            <a:pPr indent="0" marL="0">
              <a:buNone/>
            </a:pPr>
            <a:r>
              <a:rPr lang="en-US" sz="1050" dirty="0">
                <a:solidFill>
                  <a:srgbClr val="13222D"/>
                </a:solidFill>
                <a:latin typeface="Calibri" pitchFamily="34" charset="0"/>
                <a:ea typeface="Calibri" pitchFamily="34" charset="-122"/>
                <a:cs typeface="Calibri" pitchFamily="34" charset="-120"/>
              </a:rPr>
              <a:t>Code chạy trong Lambda theo từng người dùng; chỉ thấy prefix S3 của mình, không có đường ra internet.</a:t>
            </a:r>
            <a:endParaRPr lang="en-US" sz="1050" dirty="0"/>
          </a:p>
        </p:txBody>
      </p:sp>
      <p:sp>
        <p:nvSpPr>
          <p:cNvPr id="34" name="Shape 32"/>
          <p:cNvSpPr/>
          <p:nvPr/>
        </p:nvSpPr>
        <p:spPr>
          <a:xfrm>
            <a:off x="6711696" y="2971800"/>
            <a:ext cx="1965960" cy="1645920"/>
          </a:xfrm>
          <a:prstGeom prst="roundRect">
            <a:avLst>
              <a:gd name="adj" fmla="val 4444"/>
            </a:avLst>
          </a:prstGeom>
          <a:solidFill>
            <a:srgbClr val="F2F6F9"/>
          </a:solidFill>
          <a:ln w="12700">
            <a:solidFill>
              <a:srgbClr val="F2F6F9"/>
            </a:solidFill>
            <a:prstDash val="solid"/>
          </a:ln>
        </p:spPr>
      </p:sp>
      <p:sp>
        <p:nvSpPr>
          <p:cNvPr id="35" name="Text 33"/>
          <p:cNvSpPr/>
          <p:nvPr/>
        </p:nvSpPr>
        <p:spPr>
          <a:xfrm>
            <a:off x="6821424" y="3063240"/>
            <a:ext cx="347472" cy="347472"/>
          </a:xfrm>
          <a:prstGeom prst="ellipse">
            <a:avLst/>
          </a:prstGeom>
          <a:solidFill>
            <a:srgbClr val="0B6E99"/>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36" name="Text 34"/>
          <p:cNvSpPr/>
          <p:nvPr/>
        </p:nvSpPr>
        <p:spPr>
          <a:xfrm>
            <a:off x="7242048" y="3063240"/>
            <a:ext cx="1371600" cy="34747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Trả lời</a:t>
            </a:r>
            <a:endParaRPr lang="en-US" sz="1300" dirty="0"/>
          </a:p>
        </p:txBody>
      </p:sp>
      <p:sp>
        <p:nvSpPr>
          <p:cNvPr id="37" name="Text 35"/>
          <p:cNvSpPr/>
          <p:nvPr/>
        </p:nvSpPr>
        <p:spPr>
          <a:xfrm>
            <a:off x="6821424" y="3502152"/>
            <a:ext cx="1755648" cy="1051560"/>
          </a:xfrm>
          <a:prstGeom prst="rect">
            <a:avLst/>
          </a:prstGeom>
          <a:noFill/>
          <a:ln/>
        </p:spPr>
        <p:txBody>
          <a:bodyPr wrap="square" lIns="0" tIns="0" rIns="0" bIns="0" rtlCol="0" anchor="t"/>
          <a:lstStyle/>
          <a:p>
            <a:pPr indent="0" marL="0">
              <a:buNone/>
            </a:pPr>
            <a:r>
              <a:rPr lang="en-US" sz="1050" dirty="0">
                <a:solidFill>
                  <a:srgbClr val="13222D"/>
                </a:solidFill>
                <a:latin typeface="Calibri" pitchFamily="34" charset="0"/>
                <a:ea typeface="Calibri" pitchFamily="34" charset="-122"/>
                <a:cs typeface="Calibri" pitchFamily="34" charset="-120"/>
              </a:rPr>
              <a:t>Hành động ghi (gửi email, tạo ticket, xóa file) cần người dùng xác nhận. Log vào CloudWatch, audit vào S3 Object Lock.</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Model và routing</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Toàn bộ qua Amazon Bedrock. Định tuyến theo cấp tác vụ, leo thang khi model rẻ thất bại.</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4 / 14</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2103120"/>
                <a:gridCol w="1737360"/>
                <a:gridCol w="283464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Cấp</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 chính</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Leo thang</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Lý do và rủi ro</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r>
              <a:tr h="310896">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1 Email, hỏi đáp</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Haiku 5.5</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Không</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Tác vụ ngắn, có RAG; rẻ nhất</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2 Tài liệu, slide</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Haiku 5.5 (100%)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Không tính</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Viết theo mẫu; rủi ro chất lượng văn bản</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310896">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3 Dữ liệu, code</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Haiku 70% · Sonnet 30%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10% Haiku → Sonnet</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Code cần đúng; Sonnet cho phần khó</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4 Agent dự án</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Haiku 70% · Sonnet 30%</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10% Haiku → Sonnet</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40.000 token vào, nhiều bước; tốn nhất</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310896">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5 Thiết kế</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Sonnet 5.5</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Không</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1 ảnh nháp, trung bình 1,1 ảnh/request (Stable Image Core)</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bl>
          </a:graphicData>
        </a:graphic>
      </p:graphicFrame>
      <p:sp>
        <p:nvSpPr>
          <p:cNvPr id="7" name="Shape 4"/>
          <p:cNvSpPr/>
          <p:nvPr/>
        </p:nvSpPr>
        <p:spPr>
          <a:xfrm>
            <a:off x="457200" y="3246120"/>
            <a:ext cx="4023360" cy="1417320"/>
          </a:xfrm>
          <a:prstGeom prst="roundRect">
            <a:avLst>
              <a:gd name="adj" fmla="val 5161"/>
            </a:avLst>
          </a:prstGeom>
          <a:solidFill>
            <a:srgbClr val="FBEBD6"/>
          </a:solidFill>
          <a:ln w="12700">
            <a:solidFill>
              <a:srgbClr val="FBEBD6"/>
            </a:solidFill>
            <a:prstDash val="solid"/>
          </a:ln>
        </p:spPr>
      </p:sp>
      <p:sp>
        <p:nvSpPr>
          <p:cNvPr id="8" name="Text 5"/>
          <p:cNvSpPr/>
          <p:nvPr/>
        </p:nvSpPr>
        <p:spPr>
          <a:xfrm>
            <a:off x="594360" y="3310128"/>
            <a:ext cx="3794760" cy="1280160"/>
          </a:xfrm>
          <a:prstGeom prst="rect">
            <a:avLst/>
          </a:prstGeom>
          <a:noFill/>
          <a:ln/>
        </p:spPr>
        <p:txBody>
          <a:bodyPr wrap="square" lIns="0" tIns="0" rIns="0" bIns="0" rtlCol="0" anchor="t"/>
          <a:lstStyle/>
          <a:p>
            <a:pPr indent="0" marL="0">
              <a:buNone/>
            </a:pPr>
            <a:r>
              <a:rPr lang="en-US" sz="1200" b="1" dirty="0">
                <a:solidFill>
                  <a:srgbClr val="B45309"/>
                </a:solidFill>
                <a:latin typeface="Calibri" pitchFamily="34" charset="0"/>
                <a:ea typeface="Calibri" pitchFamily="34" charset="-122"/>
                <a:cs typeface="Calibri" pitchFamily="34" charset="-120"/>
              </a:rPr>
              <a:t>Giá tham khảo (mỗi triệu token)</a:t>
            </a:r>
            <a:endParaRPr lang="en-US" sz="1200" dirty="0"/>
          </a:p>
          <a:p>
            <a:pPr indent="0" marL="0">
              <a:buNone/>
            </a:pPr>
            <a:r>
              <a:rPr lang="en-US" sz="1200" dirty="0">
                <a:solidFill>
                  <a:srgbClr val="13222D"/>
                </a:solidFill>
                <a:latin typeface="Calibri" pitchFamily="34" charset="0"/>
                <a:ea typeface="Calibri" pitchFamily="34" charset="-122"/>
                <a:cs typeface="Calibri" pitchFamily="34" charset="-120"/>
              </a:rPr>
              <a:t>Haiku 5.5: $0,10 vào · $0,50 ra</a:t>
            </a:r>
            <a:endParaRPr lang="en-US" sz="1200" dirty="0"/>
          </a:p>
          <a:p>
            <a:pPr indent="0" marL="0">
              <a:buNone/>
            </a:pPr>
            <a:r>
              <a:rPr lang="en-US" sz="1200" dirty="0">
                <a:solidFill>
                  <a:srgbClr val="13222D"/>
                </a:solidFill>
                <a:latin typeface="Calibri" pitchFamily="34" charset="0"/>
                <a:ea typeface="Calibri" pitchFamily="34" charset="-122"/>
                <a:cs typeface="Calibri" pitchFamily="34" charset="-120"/>
              </a:rPr>
              <a:t>Sonnet 5.5: $2,00 vào · $10,00 ra</a:t>
            </a:r>
            <a:endParaRPr lang="en-US" sz="1200" dirty="0"/>
          </a:p>
          <a:p>
            <a:pPr indent="0" marL="0">
              <a:buNone/>
            </a:pPr>
            <a:r>
              <a:rPr lang="en-US" sz="1050" dirty="0">
                <a:solidFill>
                  <a:srgbClr val="586A77"/>
                </a:solidFill>
                <a:latin typeface="Calibri" pitchFamily="34" charset="0"/>
                <a:ea typeface="Calibri" pitchFamily="34" charset="-122"/>
                <a:cs typeface="Calibri" pitchFamily="34" charset="-120"/>
              </a:rPr>
              <a:t>Đọc cache = 0,1 × giá vào. Hồ sơ global, đang chờ ảnh bằng chứng E20, E21.</a:t>
            </a:r>
            <a:endParaRPr lang="en-US" sz="1200" dirty="0"/>
          </a:p>
        </p:txBody>
      </p:sp>
      <p:sp>
        <p:nvSpPr>
          <p:cNvPr id="9" name="Shape 6"/>
          <p:cNvSpPr/>
          <p:nvPr/>
        </p:nvSpPr>
        <p:spPr>
          <a:xfrm>
            <a:off x="4663440" y="3246120"/>
            <a:ext cx="4023360" cy="1417320"/>
          </a:xfrm>
          <a:prstGeom prst="roundRect">
            <a:avLst>
              <a:gd name="adj" fmla="val 5161"/>
            </a:avLst>
          </a:prstGeom>
          <a:solidFill>
            <a:srgbClr val="F2F6F9"/>
          </a:solidFill>
          <a:ln w="12700">
            <a:solidFill>
              <a:srgbClr val="F2F6F9"/>
            </a:solidFill>
            <a:prstDash val="solid"/>
          </a:ln>
        </p:spPr>
      </p:sp>
      <p:sp>
        <p:nvSpPr>
          <p:cNvPr id="10" name="Text 7"/>
          <p:cNvSpPr/>
          <p:nvPr/>
        </p:nvSpPr>
        <p:spPr>
          <a:xfrm>
            <a:off x="4800600" y="3310128"/>
            <a:ext cx="3794760" cy="1280160"/>
          </a:xfrm>
          <a:prstGeom prst="rect">
            <a:avLst/>
          </a:prstGeom>
          <a:noFill/>
          <a:ln/>
        </p:spPr>
        <p:txBody>
          <a:bodyPr wrap="square" lIns="0" tIns="0" rIns="0" bIns="0" rtlCol="0" anchor="t"/>
          <a:lstStyle/>
          <a:p>
            <a:pPr indent="0" marL="0">
              <a:buNone/>
            </a:pPr>
            <a:r>
              <a:rPr lang="en-US" sz="1200" b="1" dirty="0">
                <a:solidFill>
                  <a:srgbClr val="0B2536"/>
                </a:solidFill>
                <a:latin typeface="Calibri" pitchFamily="34" charset="0"/>
                <a:ea typeface="Calibri" pitchFamily="34" charset="-122"/>
                <a:cs typeface="Calibri" pitchFamily="34" charset="-120"/>
              </a:rPr>
              <a:t>Điều kiện giữ cấu hình này</a:t>
            </a:r>
            <a:endParaRPr lang="en-US" sz="1200" dirty="0"/>
          </a:p>
          <a:p>
            <a:pPr indent="0" marL="0">
              <a:buNone/>
            </a:pPr>
            <a:r>
              <a:rPr lang="en-US" sz="1100" dirty="0">
                <a:solidFill>
                  <a:srgbClr val="13222D"/>
                </a:solidFill>
                <a:latin typeface="Calibri" pitchFamily="34" charset="0"/>
                <a:ea typeface="Calibri" pitchFamily="34" charset="-122"/>
                <a:cs typeface="Calibri" pitchFamily="34" charset="-120"/>
              </a:rPr>
              <a:t>Bộ test mỗi cấp phải đạt ≥ 95% điểm của Sonnet 5.5 (model tham chiếu, H8). Nếu không đạt, lùi về chạy Sonnet nhiều hơn: tốn thêm khoảng $5.068/tháng.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Lý do chọn công nghệ</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Mỗi lựa chọn lớn có ít nhất hai phương án so sánh. Chữ đậm là phương án được chọn.</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5 / 14</a:t>
            </a:r>
            <a:endParaRPr lang="en-US" sz="900" dirty="0"/>
          </a:p>
        </p:txBody>
      </p:sp>
      <p:sp>
        <p:nvSpPr>
          <p:cNvPr id="6" name="Shape 4"/>
          <p:cNvSpPr/>
          <p:nvPr/>
        </p:nvSpPr>
        <p:spPr>
          <a:xfrm>
            <a:off x="457200" y="1188720"/>
            <a:ext cx="4023360" cy="1664208"/>
          </a:xfrm>
          <a:prstGeom prst="roundRect">
            <a:avLst>
              <a:gd name="adj" fmla="val 4396"/>
            </a:avLst>
          </a:prstGeom>
          <a:solidFill>
            <a:srgbClr val="F2F6F9"/>
          </a:solidFill>
          <a:ln w="12700">
            <a:solidFill>
              <a:srgbClr val="F2F6F9"/>
            </a:solidFill>
            <a:prstDash val="solid"/>
          </a:ln>
        </p:spPr>
      </p:sp>
      <p:sp>
        <p:nvSpPr>
          <p:cNvPr id="7" name="Text 5"/>
          <p:cNvSpPr/>
          <p:nvPr/>
        </p:nvSpPr>
        <p:spPr>
          <a:xfrm>
            <a:off x="594360" y="1261872"/>
            <a:ext cx="3749040" cy="274320"/>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Cách gọi LLM</a:t>
            </a:r>
            <a:endParaRPr lang="en-US" sz="1300" dirty="0"/>
          </a:p>
        </p:txBody>
      </p:sp>
      <p:sp>
        <p:nvSpPr>
          <p:cNvPr id="8" name="Text 6"/>
          <p:cNvSpPr/>
          <p:nvPr/>
        </p:nvSpPr>
        <p:spPr>
          <a:xfrm>
            <a:off x="594360" y="1600200"/>
            <a:ext cx="3749040" cy="1188720"/>
          </a:xfrm>
          <a:prstGeom prst="rect">
            <a:avLst/>
          </a:prstGeom>
          <a:noFill/>
          <a:ln/>
        </p:spPr>
        <p:txBody>
          <a:bodyPr wrap="square" lIns="0" tIns="0" rIns="0" bIns="0" rtlCol="0" anchor="t"/>
          <a:lstStyle/>
          <a:p>
            <a:pPr indent="0" marL="0">
              <a:spcAft>
                <a:spcPts val="600"/>
              </a:spcAft>
              <a:buNone/>
            </a:pPr>
            <a:r>
              <a:rPr lang="en-US" sz="1100" b="1" dirty="0">
                <a:solidFill>
                  <a:srgbClr val="0B6E99"/>
                </a:solidFill>
                <a:latin typeface="Calibri" pitchFamily="34" charset="0"/>
                <a:ea typeface="Calibri" pitchFamily="34" charset="-122"/>
                <a:cs typeface="Calibri" pitchFamily="34" charset="-120"/>
              </a:rPr>
              <a:t>API Bedrock (Claude): </a:t>
            </a:r>
            <a:pPr indent="0" marL="0">
              <a:spcAft>
                <a:spcPts val="600"/>
              </a:spcAft>
              <a:buNone/>
            </a:pPr>
            <a:r>
              <a:rPr lang="en-US" sz="1100" b="1" dirty="0">
                <a:solidFill>
                  <a:srgbClr val="0B6E99"/>
                </a:solidFill>
                <a:latin typeface="Calibri" pitchFamily="34" charset="0"/>
                <a:ea typeface="Calibri" pitchFamily="34" charset="-122"/>
                <a:cs typeface="Calibri" pitchFamily="34" charset="-120"/>
              </a:rPr>
              <a:t>$7.275/tháng token</a:t>
            </a:r>
            <a:endParaRPr lang="en-US" sz="1100" dirty="0"/>
          </a:p>
          <a:p>
            <a:pPr indent="0" marL="0">
              <a:spcAft>
                <a:spcPts val="600"/>
              </a:spcAft>
              <a:buNone/>
            </a:pPr>
            <a:r>
              <a:rPr lang="en-US" sz="1100" dirty="0">
                <a:solidFill>
                  <a:srgbClr val="13222D"/>
                </a:solidFill>
                <a:latin typeface="Calibri" pitchFamily="34" charset="0"/>
                <a:ea typeface="Calibri" pitchFamily="34" charset="-122"/>
                <a:cs typeface="Calibri" pitchFamily="34" charset="-120"/>
              </a:rPr>
              <a:t>Tự host GPU (p4de, 2 máy): </a:t>
            </a:r>
            <a:pPr indent="0" marL="0">
              <a:spcAft>
                <a:spcPts val="600"/>
              </a:spcAft>
              <a:buNone/>
            </a:pPr>
            <a:r>
              <a:rPr lang="en-US" sz="1100" dirty="0">
                <a:solidFill>
                  <a:srgbClr val="586A77"/>
                </a:solidFill>
                <a:latin typeface="Calibri" pitchFamily="34" charset="0"/>
                <a:ea typeface="Calibri" pitchFamily="34" charset="-122"/>
                <a:cs typeface="Calibri" pitchFamily="34" charset="-120"/>
              </a:rPr>
              <a:t>$14.492 – $48.087</a:t>
            </a:r>
            <a:endParaRPr lang="en-US" sz="1100" dirty="0"/>
          </a:p>
          <a:p>
            <a:pPr indent="0" marL="0">
              <a:spcAft>
                <a:spcPts val="600"/>
              </a:spcAft>
              <a:buNone/>
            </a:pPr>
            <a:r>
              <a:rPr lang="en-US" sz="1100" dirty="0">
                <a:solidFill>
                  <a:srgbClr val="13222D"/>
                </a:solidFill>
                <a:latin typeface="Calibri" pitchFamily="34" charset="0"/>
                <a:ea typeface="Calibri" pitchFamily="34" charset="-122"/>
                <a:cs typeface="Calibri" pitchFamily="34" charset="-120"/>
              </a:rPr>
              <a:t>Model mở qua API (DeepSeek, Qwen): </a:t>
            </a:r>
            <a:pPr indent="0" marL="0">
              <a:spcAft>
                <a:spcPts val="600"/>
              </a:spcAft>
              <a:buNone/>
            </a:pPr>
            <a:r>
              <a:rPr lang="en-US" sz="1100" dirty="0">
                <a:solidFill>
                  <a:srgbClr val="586A77"/>
                </a:solidFill>
                <a:latin typeface="Calibri" pitchFamily="34" charset="0"/>
                <a:ea typeface="Calibri" pitchFamily="34" charset="-122"/>
                <a:cs typeface="Calibri" pitchFamily="34" charset="-120"/>
              </a:rPr>
              <a:t>$4.055, nhưng không có ở Singapore</a:t>
            </a:r>
            <a:endParaRPr lang="en-US" sz="1100" dirty="0"/>
          </a:p>
        </p:txBody>
      </p:sp>
      <p:sp>
        <p:nvSpPr>
          <p:cNvPr id="9" name="Shape 7"/>
          <p:cNvSpPr/>
          <p:nvPr/>
        </p:nvSpPr>
        <p:spPr>
          <a:xfrm>
            <a:off x="4663440" y="1188720"/>
            <a:ext cx="4023360" cy="1664208"/>
          </a:xfrm>
          <a:prstGeom prst="roundRect">
            <a:avLst>
              <a:gd name="adj" fmla="val 4396"/>
            </a:avLst>
          </a:prstGeom>
          <a:solidFill>
            <a:srgbClr val="F2F6F9"/>
          </a:solidFill>
          <a:ln w="12700">
            <a:solidFill>
              <a:srgbClr val="F2F6F9"/>
            </a:solidFill>
            <a:prstDash val="solid"/>
          </a:ln>
        </p:spPr>
      </p:sp>
      <p:sp>
        <p:nvSpPr>
          <p:cNvPr id="10" name="Text 8"/>
          <p:cNvSpPr/>
          <p:nvPr/>
        </p:nvSpPr>
        <p:spPr>
          <a:xfrm>
            <a:off x="4800600" y="1261872"/>
            <a:ext cx="3749040" cy="274320"/>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Sandbox chạy code</a:t>
            </a:r>
            <a:endParaRPr lang="en-US" sz="1300" dirty="0"/>
          </a:p>
        </p:txBody>
      </p:sp>
      <p:sp>
        <p:nvSpPr>
          <p:cNvPr id="11" name="Text 9"/>
          <p:cNvSpPr/>
          <p:nvPr/>
        </p:nvSpPr>
        <p:spPr>
          <a:xfrm>
            <a:off x="4800600" y="1600200"/>
            <a:ext cx="3749040" cy="1188720"/>
          </a:xfrm>
          <a:prstGeom prst="rect">
            <a:avLst/>
          </a:prstGeom>
          <a:noFill/>
          <a:ln/>
        </p:spPr>
        <p:txBody>
          <a:bodyPr wrap="square" lIns="0" tIns="0" rIns="0" bIns="0" rtlCol="0" anchor="t"/>
          <a:lstStyle/>
          <a:p>
            <a:pPr indent="0" marL="0">
              <a:spcAft>
                <a:spcPts val="600"/>
              </a:spcAft>
              <a:buNone/>
            </a:pPr>
            <a:r>
              <a:rPr lang="en-US" sz="1100" b="1" dirty="0">
                <a:solidFill>
                  <a:srgbClr val="0B6E99"/>
                </a:solidFill>
                <a:latin typeface="Calibri" pitchFamily="34" charset="0"/>
                <a:ea typeface="Calibri" pitchFamily="34" charset="-122"/>
                <a:cs typeface="Calibri" pitchFamily="34" charset="-120"/>
              </a:rPr>
              <a:t>Lambda microVM (tenant isolation): </a:t>
            </a:r>
            <a:pPr indent="0" marL="0">
              <a:spcAft>
                <a:spcPts val="600"/>
              </a:spcAft>
              <a:buNone/>
            </a:pPr>
            <a:r>
              <a:rPr lang="en-US" sz="1100" b="1" dirty="0">
                <a:solidFill>
                  <a:srgbClr val="0B6E99"/>
                </a:solidFill>
                <a:latin typeface="Calibri" pitchFamily="34" charset="0"/>
                <a:ea typeface="Calibri" pitchFamily="34" charset="-122"/>
                <a:cs typeface="Calibri" pitchFamily="34" charset="-120"/>
              </a:rPr>
              <a:t>~$650/tháng</a:t>
            </a:r>
            <a:endParaRPr lang="en-US" sz="1100" dirty="0"/>
          </a:p>
          <a:p>
            <a:pPr indent="0" marL="0">
              <a:spcAft>
                <a:spcPts val="600"/>
              </a:spcAft>
              <a:buNone/>
            </a:pPr>
            <a:r>
              <a:rPr lang="en-US" sz="1100" dirty="0">
                <a:solidFill>
                  <a:srgbClr val="13222D"/>
                </a:solidFill>
                <a:latin typeface="Calibri" pitchFamily="34" charset="0"/>
                <a:ea typeface="Calibri" pitchFamily="34" charset="-122"/>
                <a:cs typeface="Calibri" pitchFamily="34" charset="-120"/>
              </a:rPr>
              <a:t>Fargate task mỗi lượt: </a:t>
            </a:r>
            <a:pPr indent="0" marL="0">
              <a:spcAft>
                <a:spcPts val="600"/>
              </a:spcAft>
              <a:buNone/>
            </a:pPr>
            <a:r>
              <a:rPr lang="en-US" sz="1100" dirty="0">
                <a:solidFill>
                  <a:srgbClr val="586A77"/>
                </a:solidFill>
                <a:latin typeface="Calibri" pitchFamily="34" charset="0"/>
                <a:ea typeface="Calibri" pitchFamily="34" charset="-122"/>
                <a:cs typeface="Calibri" pitchFamily="34" charset="-120"/>
              </a:rPr>
              <a:t>~$677 + pool nóng ~$824</a:t>
            </a:r>
            <a:endParaRPr lang="en-US" sz="1100" dirty="0"/>
          </a:p>
          <a:p>
            <a:pPr indent="0" marL="0">
              <a:spcAft>
                <a:spcPts val="600"/>
              </a:spcAft>
              <a:buNone/>
            </a:pPr>
            <a:r>
              <a:rPr lang="en-US" sz="1100" dirty="0">
                <a:solidFill>
                  <a:srgbClr val="13222D"/>
                </a:solidFill>
                <a:latin typeface="Calibri" pitchFamily="34" charset="0"/>
                <a:ea typeface="Calibri" pitchFamily="34" charset="-122"/>
                <a:cs typeface="Calibri" pitchFamily="34" charset="-120"/>
              </a:rPr>
              <a:t>EKS + gVisor: </a:t>
            </a:r>
            <a:pPr indent="0" marL="0">
              <a:spcAft>
                <a:spcPts val="600"/>
              </a:spcAft>
              <a:buNone/>
            </a:pPr>
            <a:r>
              <a:rPr lang="en-US" sz="1100" dirty="0">
                <a:solidFill>
                  <a:srgbClr val="586A77"/>
                </a:solidFill>
                <a:latin typeface="Calibri" pitchFamily="34" charset="0"/>
                <a:ea typeface="Calibri" pitchFamily="34" charset="-122"/>
                <a:cs typeface="Calibri" pitchFamily="34" charset="-120"/>
              </a:rPr>
              <a:t>~$820, vận hành nặng</a:t>
            </a:r>
            <a:endParaRPr lang="en-US" sz="1100" dirty="0"/>
          </a:p>
        </p:txBody>
      </p:sp>
      <p:sp>
        <p:nvSpPr>
          <p:cNvPr id="12" name="Shape 10"/>
          <p:cNvSpPr/>
          <p:nvPr/>
        </p:nvSpPr>
        <p:spPr>
          <a:xfrm>
            <a:off x="457200" y="2971800"/>
            <a:ext cx="4023360" cy="1664208"/>
          </a:xfrm>
          <a:prstGeom prst="roundRect">
            <a:avLst>
              <a:gd name="adj" fmla="val 4396"/>
            </a:avLst>
          </a:prstGeom>
          <a:solidFill>
            <a:srgbClr val="F2F6F9"/>
          </a:solidFill>
          <a:ln w="12700">
            <a:solidFill>
              <a:srgbClr val="F2F6F9"/>
            </a:solidFill>
            <a:prstDash val="solid"/>
          </a:ln>
        </p:spPr>
      </p:sp>
      <p:sp>
        <p:nvSpPr>
          <p:cNvPr id="13" name="Text 11"/>
          <p:cNvSpPr/>
          <p:nvPr/>
        </p:nvSpPr>
        <p:spPr>
          <a:xfrm>
            <a:off x="594360" y="3044952"/>
            <a:ext cx="3749040" cy="274320"/>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Compute</a:t>
            </a:r>
            <a:endParaRPr lang="en-US" sz="1300" dirty="0"/>
          </a:p>
        </p:txBody>
      </p:sp>
      <p:sp>
        <p:nvSpPr>
          <p:cNvPr id="14" name="Text 12"/>
          <p:cNvSpPr/>
          <p:nvPr/>
        </p:nvSpPr>
        <p:spPr>
          <a:xfrm>
            <a:off x="594360" y="3383280"/>
            <a:ext cx="3749040" cy="1188720"/>
          </a:xfrm>
          <a:prstGeom prst="rect">
            <a:avLst/>
          </a:prstGeom>
          <a:noFill/>
          <a:ln/>
        </p:spPr>
        <p:txBody>
          <a:bodyPr wrap="square" lIns="0" tIns="0" rIns="0" bIns="0" rtlCol="0" anchor="t"/>
          <a:lstStyle/>
          <a:p>
            <a:pPr indent="0" marL="0">
              <a:spcAft>
                <a:spcPts val="600"/>
              </a:spcAft>
              <a:buNone/>
            </a:pPr>
            <a:r>
              <a:rPr lang="en-US" sz="1100" b="1" dirty="0">
                <a:solidFill>
                  <a:srgbClr val="0B6E99"/>
                </a:solidFill>
                <a:latin typeface="Calibri" pitchFamily="34" charset="0"/>
                <a:ea typeface="Calibri" pitchFamily="34" charset="-122"/>
                <a:cs typeface="Calibri" pitchFamily="34" charset="-120"/>
              </a:rPr>
              <a:t>ECS Fargate ARM, 2 AZ: </a:t>
            </a:r>
            <a:pPr indent="0" marL="0">
              <a:spcAft>
                <a:spcPts val="600"/>
              </a:spcAft>
              <a:buNone/>
            </a:pPr>
            <a:r>
              <a:rPr lang="en-US" sz="1100" b="1" dirty="0">
                <a:solidFill>
                  <a:srgbClr val="0B6E99"/>
                </a:solidFill>
                <a:latin typeface="Calibri" pitchFamily="34" charset="0"/>
                <a:ea typeface="Calibri" pitchFamily="34" charset="-122"/>
                <a:cs typeface="Calibri" pitchFamily="34" charset="-120"/>
              </a:rPr>
              <a:t>$191/tháng</a:t>
            </a:r>
            <a:endParaRPr lang="en-US" sz="1100" dirty="0"/>
          </a:p>
          <a:p>
            <a:pPr indent="0" marL="0">
              <a:spcAft>
                <a:spcPts val="600"/>
              </a:spcAft>
              <a:buNone/>
            </a:pPr>
            <a:r>
              <a:rPr lang="en-US" sz="1100" dirty="0">
                <a:solidFill>
                  <a:srgbClr val="13222D"/>
                </a:solidFill>
                <a:latin typeface="Calibri" pitchFamily="34" charset="0"/>
                <a:ea typeface="Calibri" pitchFamily="34" charset="-122"/>
                <a:cs typeface="Calibri" pitchFamily="34" charset="-120"/>
              </a:rPr>
              <a:t>EKS: </a:t>
            </a:r>
            <a:pPr indent="0" marL="0">
              <a:spcAft>
                <a:spcPts val="600"/>
              </a:spcAft>
              <a:buNone/>
            </a:pPr>
            <a:r>
              <a:rPr lang="en-US" sz="1100" dirty="0">
                <a:solidFill>
                  <a:srgbClr val="586A77"/>
                </a:solidFill>
                <a:latin typeface="Calibri" pitchFamily="34" charset="0"/>
                <a:ea typeface="Calibri" pitchFamily="34" charset="-122"/>
                <a:cs typeface="Calibri" pitchFamily="34" charset="-120"/>
              </a:rPr>
              <a:t>+$73/tháng cho cluster, thêm quản lý node</a:t>
            </a:r>
            <a:endParaRPr lang="en-US" sz="1100" dirty="0"/>
          </a:p>
        </p:txBody>
      </p:sp>
      <p:sp>
        <p:nvSpPr>
          <p:cNvPr id="15" name="Shape 13"/>
          <p:cNvSpPr/>
          <p:nvPr/>
        </p:nvSpPr>
        <p:spPr>
          <a:xfrm>
            <a:off x="4663440" y="2971800"/>
            <a:ext cx="4023360" cy="1664208"/>
          </a:xfrm>
          <a:prstGeom prst="roundRect">
            <a:avLst>
              <a:gd name="adj" fmla="val 4396"/>
            </a:avLst>
          </a:prstGeom>
          <a:solidFill>
            <a:srgbClr val="F2F6F9"/>
          </a:solidFill>
          <a:ln w="12700">
            <a:solidFill>
              <a:srgbClr val="F2F6F9"/>
            </a:solidFill>
            <a:prstDash val="solid"/>
          </a:ln>
        </p:spPr>
      </p:sp>
      <p:sp>
        <p:nvSpPr>
          <p:cNvPr id="16" name="Text 14"/>
          <p:cNvSpPr/>
          <p:nvPr/>
        </p:nvSpPr>
        <p:spPr>
          <a:xfrm>
            <a:off x="4800600" y="3044952"/>
            <a:ext cx="3749040" cy="274320"/>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Token OAuth của người dùng</a:t>
            </a:r>
            <a:endParaRPr lang="en-US" sz="1300" dirty="0"/>
          </a:p>
        </p:txBody>
      </p:sp>
      <p:sp>
        <p:nvSpPr>
          <p:cNvPr id="17" name="Text 15"/>
          <p:cNvSpPr/>
          <p:nvPr/>
        </p:nvSpPr>
        <p:spPr>
          <a:xfrm>
            <a:off x="4800600" y="3383280"/>
            <a:ext cx="3749040" cy="1188720"/>
          </a:xfrm>
          <a:prstGeom prst="rect">
            <a:avLst/>
          </a:prstGeom>
          <a:noFill/>
          <a:ln/>
        </p:spPr>
        <p:txBody>
          <a:bodyPr wrap="square" lIns="0" tIns="0" rIns="0" bIns="0" rtlCol="0" anchor="t"/>
          <a:lstStyle/>
          <a:p>
            <a:pPr indent="0" marL="0">
              <a:spcAft>
                <a:spcPts val="600"/>
              </a:spcAft>
              <a:buNone/>
            </a:pPr>
            <a:r>
              <a:rPr lang="en-US" sz="1100" b="1" dirty="0">
                <a:solidFill>
                  <a:srgbClr val="0B6E99"/>
                </a:solidFill>
                <a:latin typeface="Calibri" pitchFamily="34" charset="0"/>
                <a:ea typeface="Calibri" pitchFamily="34" charset="-122"/>
                <a:cs typeface="Calibri" pitchFamily="34" charset="-120"/>
              </a:rPr>
              <a:t>Mã hóa phong bì KMS trong RDS: </a:t>
            </a:r>
            <a:pPr indent="0" marL="0">
              <a:spcAft>
                <a:spcPts val="600"/>
              </a:spcAft>
              <a:buNone/>
            </a:pPr>
            <a:r>
              <a:rPr lang="en-US" sz="1100" b="1" dirty="0">
                <a:solidFill>
                  <a:srgbClr val="0B6E99"/>
                </a:solidFill>
                <a:latin typeface="Calibri" pitchFamily="34" charset="0"/>
                <a:ea typeface="Calibri" pitchFamily="34" charset="-122"/>
                <a:cs typeface="Calibri" pitchFamily="34" charset="-120"/>
              </a:rPr>
              <a:t>secrets_kms $37,70/tháng</a:t>
            </a:r>
            <a:endParaRPr lang="en-US" sz="1100" dirty="0"/>
          </a:p>
          <a:p>
            <a:pPr indent="0" marL="0">
              <a:spcAft>
                <a:spcPts val="600"/>
              </a:spcAft>
              <a:buNone/>
            </a:pPr>
            <a:r>
              <a:rPr lang="en-US" sz="1100" dirty="0">
                <a:solidFill>
                  <a:srgbClr val="13222D"/>
                </a:solidFill>
                <a:latin typeface="Calibri" pitchFamily="34" charset="0"/>
                <a:ea typeface="Calibri" pitchFamily="34" charset="-122"/>
                <a:cs typeface="Calibri" pitchFamily="34" charset="-120"/>
              </a:rPr>
              <a:t>Một secret mỗi (user × connector): </a:t>
            </a:r>
            <a:pPr indent="0" marL="0">
              <a:spcAft>
                <a:spcPts val="600"/>
              </a:spcAft>
              <a:buNone/>
            </a:pPr>
            <a:r>
              <a:rPr lang="en-US" sz="1100" dirty="0">
                <a:solidFill>
                  <a:srgbClr val="586A77"/>
                </a:solidFill>
                <a:latin typeface="Calibri" pitchFamily="34" charset="0"/>
                <a:ea typeface="Calibri" pitchFamily="34" charset="-122"/>
                <a:cs typeface="Calibri" pitchFamily="34" charset="-120"/>
              </a:rPr>
              <a:t>~12.000 secret, tính theo secret</a:t>
            </a:r>
            <a:endParaRPr lang="en-US" sz="1100" dirty="0"/>
          </a:p>
        </p:txBody>
      </p:sp>
      <p:sp>
        <p:nvSpPr>
          <p:cNvPr id="18" name="Text 16"/>
          <p:cNvSpPr/>
          <p:nvPr/>
        </p:nvSpPr>
        <p:spPr>
          <a:xfrm>
            <a:off x="457200" y="4617720"/>
            <a:ext cx="8229600" cy="201168"/>
          </a:xfrm>
          <a:prstGeom prst="rect">
            <a:avLst/>
          </a:prstGeom>
          <a:noFill/>
          <a:ln/>
        </p:spPr>
        <p:txBody>
          <a:bodyPr wrap="square" lIns="0" tIns="0" rIns="0" bIns="0" rtlCol="0" anchor="ctr"/>
          <a:lstStyle/>
          <a:p>
            <a:pPr indent="0" marL="0">
              <a:buNone/>
            </a:pPr>
            <a:r>
              <a:rPr lang="en-US" sz="1000" i="1" dirty="0">
                <a:solidFill>
                  <a:srgbClr val="586A77"/>
                </a:solidFill>
                <a:latin typeface="Calibri" pitchFamily="34" charset="0"/>
                <a:ea typeface="Calibri" pitchFamily="34" charset="-122"/>
                <a:cs typeface="Calibri" pitchFamily="34" charset="-120"/>
              </a:rPr>
              <a:t>Số liệu từ bảng giá AWS ngày 2026-10-16, chưa có ảnh chụp trang; sổ bằng chứng ở evidence/INDEX.md.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Connectors và phân quyền</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Agent hành động bằng quyền ủy nhiệm của chính người dùng, không dùng tài khoản dịch vụ toàn tập đoàn.</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6 / 14</a:t>
            </a:r>
            <a:endParaRPr lang="en-US" sz="900" dirty="0"/>
          </a:p>
        </p:txBody>
      </p:sp>
      <p:sp>
        <p:nvSpPr>
          <p:cNvPr id="6" name="Shape 4"/>
          <p:cNvSpPr/>
          <p:nvPr/>
        </p:nvSpPr>
        <p:spPr>
          <a:xfrm>
            <a:off x="457200" y="1188720"/>
            <a:ext cx="4023360" cy="3108960"/>
          </a:xfrm>
          <a:prstGeom prst="roundRect">
            <a:avLst>
              <a:gd name="adj" fmla="val 2353"/>
            </a:avLst>
          </a:prstGeom>
          <a:solidFill>
            <a:srgbClr val="F2F6F9"/>
          </a:solidFill>
          <a:ln w="12700">
            <a:solidFill>
              <a:srgbClr val="F2F6F9"/>
            </a:solidFill>
            <a:prstDash val="solid"/>
          </a:ln>
        </p:spPr>
      </p:sp>
      <p:sp>
        <p:nvSpPr>
          <p:cNvPr id="7" name="Text 5"/>
          <p:cNvSpPr/>
          <p:nvPr/>
        </p:nvSpPr>
        <p:spPr>
          <a:xfrm>
            <a:off x="594360" y="1261872"/>
            <a:ext cx="3749040" cy="274320"/>
          </a:xfrm>
          <a:prstGeom prst="rect">
            <a:avLst/>
          </a:prstGeom>
          <a:noFill/>
          <a:ln/>
        </p:spPr>
        <p:txBody>
          <a:bodyPr wrap="square" lIns="0" tIns="0" rIns="0" bIns="0" rtlCol="0" anchor="ctr"/>
          <a:lstStyle/>
          <a:p>
            <a:pPr indent="0" marL="0">
              <a:buNone/>
            </a:pPr>
            <a:r>
              <a:rPr lang="en-US" sz="1400" b="1" dirty="0">
                <a:solidFill>
                  <a:srgbClr val="0B2536"/>
                </a:solidFill>
                <a:latin typeface="Calibri" pitchFamily="34" charset="0"/>
                <a:ea typeface="Calibri" pitchFamily="34" charset="-122"/>
                <a:cs typeface="Calibri" pitchFamily="34" charset="-120"/>
              </a:rPr>
              <a:t>Connectors</a:t>
            </a:r>
            <a:endParaRPr lang="en-US" sz="1400" dirty="0"/>
          </a:p>
        </p:txBody>
      </p:sp>
      <p:sp>
        <p:nvSpPr>
          <p:cNvPr id="8" name="Text 6"/>
          <p:cNvSpPr/>
          <p:nvPr/>
        </p:nvSpPr>
        <p:spPr>
          <a:xfrm>
            <a:off x="594360" y="1600200"/>
            <a:ext cx="3749040" cy="26517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OAuth ủy nhiệm, scope tối thiểu cho Gmail, Drive, Calendar, Outlook, M365, Notion, Jira, Confluence.</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Lai: đồng bộ trước cho tài liệu tìm kiếm (Drive changes, Graph delta, webhook Notion/Jira/Confluence); gọi trực tiếp cho email, lịch và mọi hành động ghi.</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Token cất trong bảng connector_tokens, mã hóa phong bì bằng KMS (AWS Encryption SDK). Khóa chủ không rời KMS.</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Secrets Manager chỉ giữ ~32 secret nền tảng ($15,30).</a:t>
            </a:r>
            <a:endParaRPr lang="en-US" sz="1150" dirty="0"/>
          </a:p>
        </p:txBody>
      </p:sp>
      <p:sp>
        <p:nvSpPr>
          <p:cNvPr id="9" name="Shape 7"/>
          <p:cNvSpPr/>
          <p:nvPr/>
        </p:nvSpPr>
        <p:spPr>
          <a:xfrm>
            <a:off x="4663440" y="1188720"/>
            <a:ext cx="4023360" cy="3108960"/>
          </a:xfrm>
          <a:prstGeom prst="roundRect">
            <a:avLst>
              <a:gd name="adj" fmla="val 2353"/>
            </a:avLst>
          </a:prstGeom>
          <a:solidFill>
            <a:srgbClr val="F2F6F9"/>
          </a:solidFill>
          <a:ln w="12700">
            <a:solidFill>
              <a:srgbClr val="F2F6F9"/>
            </a:solidFill>
            <a:prstDash val="solid"/>
          </a:ln>
        </p:spPr>
      </p:sp>
      <p:sp>
        <p:nvSpPr>
          <p:cNvPr id="10" name="Text 8"/>
          <p:cNvSpPr/>
          <p:nvPr/>
        </p:nvSpPr>
        <p:spPr>
          <a:xfrm>
            <a:off x="4800600" y="1261872"/>
            <a:ext cx="3749040" cy="274320"/>
          </a:xfrm>
          <a:prstGeom prst="rect">
            <a:avLst/>
          </a:prstGeom>
          <a:noFill/>
          <a:ln/>
        </p:spPr>
        <p:txBody>
          <a:bodyPr wrap="square" lIns="0" tIns="0" rIns="0" bIns="0" rtlCol="0" anchor="ctr"/>
          <a:lstStyle/>
          <a:p>
            <a:pPr indent="0" marL="0">
              <a:buNone/>
            </a:pPr>
            <a:r>
              <a:rPr lang="en-US" sz="1400" b="1" dirty="0">
                <a:solidFill>
                  <a:srgbClr val="0B2536"/>
                </a:solidFill>
                <a:latin typeface="Calibri" pitchFamily="34" charset="0"/>
                <a:ea typeface="Calibri" pitchFamily="34" charset="-122"/>
                <a:cs typeface="Calibri" pitchFamily="34" charset="-120"/>
              </a:rPr>
              <a:t>Định danh và quyền</a:t>
            </a:r>
            <a:endParaRPr lang="en-US" sz="1400" dirty="0"/>
          </a:p>
        </p:txBody>
      </p:sp>
      <p:sp>
        <p:nvSpPr>
          <p:cNvPr id="11" name="Text 9"/>
          <p:cNvSpPr/>
          <p:nvPr/>
        </p:nvSpPr>
        <p:spPr>
          <a:xfrm>
            <a:off x="4800600" y="1600200"/>
            <a:ext cx="3749040" cy="26517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Cognito liên kết SAML/OIDC với IdP tập đoàn; MFA thực hiện ở IdP.</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RBAC cho chức năng bằng Amazon Verified Permissions.</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ACL tài liệu giữ nguyên quyền gốc: lọc ngay trong truy vấn pgvector bằng row-level security, không lọc sau khi lấy kết quả.</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Token không nằm trong Secrets Manager vì phí tính theo từng secret, mà có hàng chục nghìn token.</a:t>
            </a:r>
            <a:endParaRPr lang="en-US" sz="1150" dirty="0"/>
          </a:p>
        </p:txBody>
      </p:sp>
      <p:sp>
        <p:nvSpPr>
          <p:cNvPr id="12" name="Text 10"/>
          <p:cNvSpPr/>
          <p:nvPr/>
        </p:nvSpPr>
        <p:spPr>
          <a:xfrm>
            <a:off x="457200" y="4462272"/>
            <a:ext cx="1097280" cy="201168"/>
          </a:xfrm>
          <a:prstGeom prst="roundRect">
            <a:avLst>
              <a:gd name="adj" fmla="val 22727"/>
            </a:avLst>
          </a:prstGeom>
          <a:solidFill>
            <a:srgbClr val="D9EDF6"/>
          </a:solidFill>
          <a:ln/>
        </p:spPr>
        <p:txBody>
          <a:bodyPr wrap="square" lIns="0" tIns="0" rIns="0" bIns="0" rtlCol="0" anchor="ctr"/>
          <a:lstStyle/>
          <a:p>
            <a:pPr algn="ctr" indent="0" marL="0">
              <a:buNone/>
            </a:pPr>
            <a:r>
              <a:rPr lang="en-US" sz="900" b="1" dirty="0">
                <a:solidFill>
                  <a:srgbClr val="0B6E99"/>
                </a:solidFill>
                <a:latin typeface="Courier New" pitchFamily="34" charset="0"/>
                <a:ea typeface="Courier New" pitchFamily="34" charset="-122"/>
                <a:cs typeface="Courier New" pitchFamily="34" charset="-120"/>
              </a:rPr>
              <a:t>connectors</a:t>
            </a:r>
            <a:endParaRPr lang="en-US" sz="900" dirty="0"/>
          </a:p>
        </p:txBody>
      </p:sp>
      <p:sp>
        <p:nvSpPr>
          <p:cNvPr id="13" name="Text 11"/>
          <p:cNvSpPr/>
          <p:nvPr/>
        </p:nvSpPr>
        <p:spPr>
          <a:xfrm>
            <a:off x="1600200" y="4462272"/>
            <a:ext cx="914400" cy="201168"/>
          </a:xfrm>
          <a:prstGeom prst="rect">
            <a:avLst/>
          </a:prstGeom>
          <a:noFill/>
          <a:ln/>
        </p:spPr>
        <p:txBody>
          <a:bodyPr wrap="square" lIns="0" tIns="0" rIns="0" bIns="0" rtlCol="0" anchor="ctr"/>
          <a:lstStyle/>
          <a:p>
            <a:pPr indent="0" marL="0">
              <a:buNone/>
            </a:pPr>
            <a:r>
              <a:rPr lang="en-US" sz="1000" dirty="0">
                <a:solidFill>
                  <a:srgbClr val="586A77"/>
                </a:solidFill>
                <a:latin typeface="Calibri" pitchFamily="34" charset="0"/>
                <a:ea typeface="Calibri" pitchFamily="34" charset="-122"/>
                <a:cs typeface="Calibri" pitchFamily="34" charset="-120"/>
              </a:rPr>
              <a:t>$41,40/tháng</a:t>
            </a:r>
            <a:endParaRPr lang="en-US" sz="1000" dirty="0"/>
          </a:p>
        </p:txBody>
      </p:sp>
      <p:sp>
        <p:nvSpPr>
          <p:cNvPr id="14" name="Text 12"/>
          <p:cNvSpPr/>
          <p:nvPr/>
        </p:nvSpPr>
        <p:spPr>
          <a:xfrm>
            <a:off x="2560320" y="4462272"/>
            <a:ext cx="1097280" cy="201168"/>
          </a:xfrm>
          <a:prstGeom prst="roundRect">
            <a:avLst>
              <a:gd name="adj" fmla="val 22727"/>
            </a:avLst>
          </a:prstGeom>
          <a:solidFill>
            <a:srgbClr val="D9EDF6"/>
          </a:solidFill>
          <a:ln/>
        </p:spPr>
        <p:txBody>
          <a:bodyPr wrap="square" lIns="0" tIns="0" rIns="0" bIns="0" rtlCol="0" anchor="ctr"/>
          <a:lstStyle/>
          <a:p>
            <a:pPr algn="ctr" indent="0" marL="0">
              <a:buNone/>
            </a:pPr>
            <a:r>
              <a:rPr lang="en-US" sz="900" b="1" dirty="0">
                <a:solidFill>
                  <a:srgbClr val="0B6E99"/>
                </a:solidFill>
                <a:latin typeface="Courier New" pitchFamily="34" charset="0"/>
                <a:ea typeface="Courier New" pitchFamily="34" charset="-122"/>
                <a:cs typeface="Courier New" pitchFamily="34" charset="-120"/>
              </a:rPr>
              <a:t>authn</a:t>
            </a:r>
            <a:endParaRPr lang="en-US" sz="900" dirty="0"/>
          </a:p>
        </p:txBody>
      </p:sp>
      <p:sp>
        <p:nvSpPr>
          <p:cNvPr id="15" name="Text 13"/>
          <p:cNvSpPr/>
          <p:nvPr/>
        </p:nvSpPr>
        <p:spPr>
          <a:xfrm>
            <a:off x="3703320" y="4462272"/>
            <a:ext cx="914400" cy="201168"/>
          </a:xfrm>
          <a:prstGeom prst="rect">
            <a:avLst/>
          </a:prstGeom>
          <a:noFill/>
          <a:ln/>
        </p:spPr>
        <p:txBody>
          <a:bodyPr wrap="square" lIns="0" tIns="0" rIns="0" bIns="0" rtlCol="0" anchor="ctr"/>
          <a:lstStyle/>
          <a:p>
            <a:pPr indent="0" marL="0">
              <a:buNone/>
            </a:pPr>
            <a:r>
              <a:rPr lang="en-US" sz="1000" dirty="0">
                <a:solidFill>
                  <a:srgbClr val="586A77"/>
                </a:solidFill>
                <a:latin typeface="Calibri" pitchFamily="34" charset="0"/>
                <a:ea typeface="Calibri" pitchFamily="34" charset="-122"/>
                <a:cs typeface="Calibri" pitchFamily="34" charset="-120"/>
              </a:rPr>
              <a:t>$30,45/tháng</a:t>
            </a:r>
            <a:endParaRPr lang="en-US" sz="1000" dirty="0"/>
          </a:p>
        </p:txBody>
      </p:sp>
      <p:sp>
        <p:nvSpPr>
          <p:cNvPr id="16" name="Text 14"/>
          <p:cNvSpPr/>
          <p:nvPr/>
        </p:nvSpPr>
        <p:spPr>
          <a:xfrm>
            <a:off x="4663440" y="4462272"/>
            <a:ext cx="1097280" cy="201168"/>
          </a:xfrm>
          <a:prstGeom prst="roundRect">
            <a:avLst>
              <a:gd name="adj" fmla="val 22727"/>
            </a:avLst>
          </a:prstGeom>
          <a:solidFill>
            <a:srgbClr val="D9EDF6"/>
          </a:solidFill>
          <a:ln/>
        </p:spPr>
        <p:txBody>
          <a:bodyPr wrap="square" lIns="0" tIns="0" rIns="0" bIns="0" rtlCol="0" anchor="ctr"/>
          <a:lstStyle/>
          <a:p>
            <a:pPr algn="ctr" indent="0" marL="0">
              <a:buNone/>
            </a:pPr>
            <a:r>
              <a:rPr lang="en-US" sz="900" b="1" dirty="0">
                <a:solidFill>
                  <a:srgbClr val="0B6E99"/>
                </a:solidFill>
                <a:latin typeface="Courier New" pitchFamily="34" charset="0"/>
                <a:ea typeface="Courier New" pitchFamily="34" charset="-122"/>
                <a:cs typeface="Courier New" pitchFamily="34" charset="-120"/>
              </a:rPr>
              <a:t>authz</a:t>
            </a:r>
            <a:endParaRPr lang="en-US" sz="900" dirty="0"/>
          </a:p>
        </p:txBody>
      </p:sp>
      <p:sp>
        <p:nvSpPr>
          <p:cNvPr id="17" name="Text 15"/>
          <p:cNvSpPr/>
          <p:nvPr/>
        </p:nvSpPr>
        <p:spPr>
          <a:xfrm>
            <a:off x="5806440" y="4462272"/>
            <a:ext cx="914400" cy="201168"/>
          </a:xfrm>
          <a:prstGeom prst="rect">
            <a:avLst/>
          </a:prstGeom>
          <a:noFill/>
          <a:ln/>
        </p:spPr>
        <p:txBody>
          <a:bodyPr wrap="square" lIns="0" tIns="0" rIns="0" bIns="0" rtlCol="0" anchor="ctr"/>
          <a:lstStyle/>
          <a:p>
            <a:pPr indent="0" marL="0">
              <a:buNone/>
            </a:pPr>
            <a:r>
              <a:rPr lang="en-US" sz="1000" dirty="0">
                <a:solidFill>
                  <a:srgbClr val="586A77"/>
                </a:solidFill>
                <a:latin typeface="Calibri" pitchFamily="34" charset="0"/>
                <a:ea typeface="Calibri" pitchFamily="34" charset="-122"/>
                <a:cs typeface="Calibri" pitchFamily="34" charset="-120"/>
              </a:rPr>
              <a:t>$22,50/tháng</a:t>
            </a:r>
            <a:endParaRPr lang="en-US" sz="1000" dirty="0"/>
          </a:p>
        </p:txBody>
      </p:sp>
      <p:sp>
        <p:nvSpPr>
          <p:cNvPr id="18" name="Text 16"/>
          <p:cNvSpPr/>
          <p:nvPr/>
        </p:nvSpPr>
        <p:spPr>
          <a:xfrm>
            <a:off x="6766560" y="4462272"/>
            <a:ext cx="1097280" cy="201168"/>
          </a:xfrm>
          <a:prstGeom prst="roundRect">
            <a:avLst>
              <a:gd name="adj" fmla="val 22727"/>
            </a:avLst>
          </a:prstGeom>
          <a:solidFill>
            <a:srgbClr val="D9EDF6"/>
          </a:solidFill>
          <a:ln/>
        </p:spPr>
        <p:txBody>
          <a:bodyPr wrap="square" lIns="0" tIns="0" rIns="0" bIns="0" rtlCol="0" anchor="ctr"/>
          <a:lstStyle/>
          <a:p>
            <a:pPr algn="ctr" indent="0" marL="0">
              <a:buNone/>
            </a:pPr>
            <a:r>
              <a:rPr lang="en-US" sz="900" b="1" dirty="0">
                <a:solidFill>
                  <a:srgbClr val="0B6E99"/>
                </a:solidFill>
                <a:latin typeface="Courier New" pitchFamily="34" charset="0"/>
                <a:ea typeface="Courier New" pitchFamily="34" charset="-122"/>
                <a:cs typeface="Courier New" pitchFamily="34" charset="-120"/>
              </a:rPr>
              <a:t>secrets_kms</a:t>
            </a:r>
            <a:endParaRPr lang="en-US" sz="900" dirty="0"/>
          </a:p>
        </p:txBody>
      </p:sp>
      <p:sp>
        <p:nvSpPr>
          <p:cNvPr id="19" name="Text 17"/>
          <p:cNvSpPr/>
          <p:nvPr/>
        </p:nvSpPr>
        <p:spPr>
          <a:xfrm>
            <a:off x="7909560" y="4462272"/>
            <a:ext cx="914400" cy="201168"/>
          </a:xfrm>
          <a:prstGeom prst="rect">
            <a:avLst/>
          </a:prstGeom>
          <a:noFill/>
          <a:ln/>
        </p:spPr>
        <p:txBody>
          <a:bodyPr wrap="square" lIns="0" tIns="0" rIns="0" bIns="0" rtlCol="0" anchor="ctr"/>
          <a:lstStyle/>
          <a:p>
            <a:pPr indent="0" marL="0">
              <a:buNone/>
            </a:pPr>
            <a:r>
              <a:rPr lang="en-US" sz="1000" dirty="0">
                <a:solidFill>
                  <a:srgbClr val="586A77"/>
                </a:solidFill>
                <a:latin typeface="Calibri" pitchFamily="34" charset="0"/>
                <a:ea typeface="Calibri" pitchFamily="34" charset="-122"/>
                <a:cs typeface="Calibri" pitchFamily="34" charset="-120"/>
              </a:rPr>
              <a:t>$37,70/tháng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Workspace riêng và sandbox</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Hai câu hỏi hội đồng chắc chắn hỏi: agent của A có đọc được file của B không, và code thoát sandbox thì sao.</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7 / 14</a:t>
            </a:r>
            <a:endParaRPr lang="en-US" sz="900" dirty="0"/>
          </a:p>
        </p:txBody>
      </p:sp>
      <p:sp>
        <p:nvSpPr>
          <p:cNvPr id="6" name="Shape 4"/>
          <p:cNvSpPr/>
          <p:nvPr/>
        </p:nvSpPr>
        <p:spPr>
          <a:xfrm>
            <a:off x="457200" y="1188720"/>
            <a:ext cx="4023360" cy="3108960"/>
          </a:xfrm>
          <a:prstGeom prst="roundRect">
            <a:avLst>
              <a:gd name="adj" fmla="val 2353"/>
            </a:avLst>
          </a:prstGeom>
          <a:solidFill>
            <a:srgbClr val="F2F6F9"/>
          </a:solidFill>
          <a:ln w="12700">
            <a:solidFill>
              <a:srgbClr val="F2F6F9"/>
            </a:solidFill>
            <a:prstDash val="solid"/>
          </a:ln>
        </p:spPr>
      </p:sp>
      <p:sp>
        <p:nvSpPr>
          <p:cNvPr id="7" name="Text 5"/>
          <p:cNvSpPr/>
          <p:nvPr/>
        </p:nvSpPr>
        <p:spPr>
          <a:xfrm>
            <a:off x="594360" y="1261872"/>
            <a:ext cx="3749040" cy="274320"/>
          </a:xfrm>
          <a:prstGeom prst="rect">
            <a:avLst/>
          </a:prstGeom>
          <a:noFill/>
          <a:ln/>
        </p:spPr>
        <p:txBody>
          <a:bodyPr wrap="square" lIns="0" tIns="0" rIns="0" bIns="0" rtlCol="0" anchor="ctr"/>
          <a:lstStyle/>
          <a:p>
            <a:pPr indent="0" marL="0">
              <a:buNone/>
            </a:pPr>
            <a:r>
              <a:rPr lang="en-US" sz="1400" b="1" dirty="0">
                <a:solidFill>
                  <a:srgbClr val="0B2536"/>
                </a:solidFill>
                <a:latin typeface="Calibri" pitchFamily="34" charset="0"/>
                <a:ea typeface="Calibri" pitchFamily="34" charset="-122"/>
                <a:cs typeface="Calibri" pitchFamily="34" charset="-120"/>
              </a:rPr>
              <a:t>Cô lập dữ liệu từng người</a:t>
            </a:r>
            <a:endParaRPr lang="en-US" sz="1400" dirty="0"/>
          </a:p>
        </p:txBody>
      </p:sp>
      <p:sp>
        <p:nvSpPr>
          <p:cNvPr id="8" name="Text 6"/>
          <p:cNvSpPr/>
          <p:nvPr/>
        </p:nvSpPr>
        <p:spPr>
          <a:xfrm>
            <a:off x="594360" y="1600200"/>
            <a:ext cx="3749040" cy="26517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S3 một bucket, mỗi người một prefix users/{user_id}/, quota 10 GB áp ở ứng dụng, SSE-KMS.</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Sandbox nhận quyền qua STS session policy giới hạn đúng prefix của người dùng, hết hạn sau lượt chạy.</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pgvector có row-level security theo user_id và nhóm ACL; lịch sử chat và bộ nhớ dài hạn cũng khóa theo user_id.</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Demo 3 phút: agent của A thử đọc prefix của B và bị từ chối.</a:t>
            </a:r>
            <a:endParaRPr lang="en-US" sz="1150" dirty="0"/>
          </a:p>
        </p:txBody>
      </p:sp>
      <p:sp>
        <p:nvSpPr>
          <p:cNvPr id="9" name="Shape 7"/>
          <p:cNvSpPr/>
          <p:nvPr/>
        </p:nvSpPr>
        <p:spPr>
          <a:xfrm>
            <a:off x="4663440" y="1188720"/>
            <a:ext cx="4023360" cy="3108960"/>
          </a:xfrm>
          <a:prstGeom prst="roundRect">
            <a:avLst>
              <a:gd name="adj" fmla="val 2353"/>
            </a:avLst>
          </a:prstGeom>
          <a:solidFill>
            <a:srgbClr val="F2F6F9"/>
          </a:solidFill>
          <a:ln w="12700">
            <a:solidFill>
              <a:srgbClr val="F2F6F9"/>
            </a:solidFill>
            <a:prstDash val="solid"/>
          </a:ln>
        </p:spPr>
      </p:sp>
      <p:sp>
        <p:nvSpPr>
          <p:cNvPr id="10" name="Text 8"/>
          <p:cNvSpPr/>
          <p:nvPr/>
        </p:nvSpPr>
        <p:spPr>
          <a:xfrm>
            <a:off x="4800600" y="1261872"/>
            <a:ext cx="3749040" cy="274320"/>
          </a:xfrm>
          <a:prstGeom prst="rect">
            <a:avLst/>
          </a:prstGeom>
          <a:noFill/>
          <a:ln/>
        </p:spPr>
        <p:txBody>
          <a:bodyPr wrap="square" lIns="0" tIns="0" rIns="0" bIns="0" rtlCol="0" anchor="ctr"/>
          <a:lstStyle/>
          <a:p>
            <a:pPr indent="0" marL="0">
              <a:buNone/>
            </a:pPr>
            <a:r>
              <a:rPr lang="en-US" sz="1400" b="1" dirty="0">
                <a:solidFill>
                  <a:srgbClr val="0B2536"/>
                </a:solidFill>
                <a:latin typeface="Calibri" pitchFamily="34" charset="0"/>
                <a:ea typeface="Calibri" pitchFamily="34" charset="-122"/>
                <a:cs typeface="Calibri" pitchFamily="34" charset="-120"/>
              </a:rPr>
              <a:t>Sandbox</a:t>
            </a:r>
            <a:endParaRPr lang="en-US" sz="1400" dirty="0"/>
          </a:p>
        </p:txBody>
      </p:sp>
      <p:sp>
        <p:nvSpPr>
          <p:cNvPr id="11" name="Text 9"/>
          <p:cNvSpPr/>
          <p:nvPr/>
        </p:nvSpPr>
        <p:spPr>
          <a:xfrm>
            <a:off x="4800600" y="1600200"/>
            <a:ext cx="3749040" cy="26517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AWS Lambda ARM, chế độ tenant isolation: mỗi người một môi trường microVM Firecracker, không dùng chung với người khác.</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Đặt trong subnet không có đường ra NAT: mặc định không egress.</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Giới hạn 3 GB RAM, ~40 giây tính phí mỗi lượt; hủy khi xong.</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Lượt quá 15 phút chạy bằng Fargate task (dự phòng ~200 giờ/tháng).</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Còn phải kiểm: chặn gọi metadata, đo thật thời gian nạp workspace.</a:t>
            </a:r>
            <a:endParaRPr lang="en-US" sz="1150" dirty="0"/>
          </a:p>
        </p:txBody>
      </p:sp>
      <p:sp>
        <p:nvSpPr>
          <p:cNvPr id="12" name="Text 10"/>
          <p:cNvSpPr/>
          <p:nvPr/>
        </p:nvSpPr>
        <p:spPr>
          <a:xfrm>
            <a:off x="457200" y="4462272"/>
            <a:ext cx="1097280" cy="201168"/>
          </a:xfrm>
          <a:prstGeom prst="roundRect">
            <a:avLst>
              <a:gd name="adj" fmla="val 22727"/>
            </a:avLst>
          </a:prstGeom>
          <a:solidFill>
            <a:srgbClr val="D9EDF6"/>
          </a:solidFill>
          <a:ln/>
        </p:spPr>
        <p:txBody>
          <a:bodyPr wrap="square" lIns="0" tIns="0" rIns="0" bIns="0" rtlCol="0" anchor="ctr"/>
          <a:lstStyle/>
          <a:p>
            <a:pPr algn="ctr" indent="0" marL="0">
              <a:buNone/>
            </a:pPr>
            <a:r>
              <a:rPr lang="en-US" sz="900" b="1" dirty="0">
                <a:solidFill>
                  <a:srgbClr val="0B6E99"/>
                </a:solidFill>
                <a:latin typeface="Courier New" pitchFamily="34" charset="0"/>
                <a:ea typeface="Courier New" pitchFamily="34" charset="-122"/>
                <a:cs typeface="Courier New" pitchFamily="34" charset="-120"/>
              </a:rPr>
              <a:t>sandbox</a:t>
            </a:r>
            <a:endParaRPr lang="en-US" sz="900" dirty="0"/>
          </a:p>
        </p:txBody>
      </p:sp>
      <p:sp>
        <p:nvSpPr>
          <p:cNvPr id="13" name="Text 11"/>
          <p:cNvSpPr/>
          <p:nvPr/>
        </p:nvSpPr>
        <p:spPr>
          <a:xfrm>
            <a:off x="1600200" y="4462272"/>
            <a:ext cx="1280160" cy="201168"/>
          </a:xfrm>
          <a:prstGeom prst="rect">
            <a:avLst/>
          </a:prstGeom>
          <a:noFill/>
          <a:ln/>
        </p:spPr>
        <p:txBody>
          <a:bodyPr wrap="square" lIns="0" tIns="0" rIns="0" bIns="0" rtlCol="0" anchor="ctr"/>
          <a:lstStyle/>
          <a:p>
            <a:pPr indent="0" marL="0">
              <a:buNone/>
            </a:pPr>
            <a:r>
              <a:rPr lang="en-US" sz="1000" dirty="0">
                <a:solidFill>
                  <a:srgbClr val="586A77"/>
                </a:solidFill>
                <a:latin typeface="Calibri" pitchFamily="34" charset="0"/>
                <a:ea typeface="Calibri" pitchFamily="34" charset="-122"/>
                <a:cs typeface="Calibri" pitchFamily="34" charset="-120"/>
              </a:rPr>
              <a:t>$689,51/tháng</a:t>
            </a:r>
            <a:endParaRPr lang="en-US" sz="1000" dirty="0"/>
          </a:p>
        </p:txBody>
      </p:sp>
      <p:sp>
        <p:nvSpPr>
          <p:cNvPr id="14" name="Text 12"/>
          <p:cNvSpPr/>
          <p:nvPr/>
        </p:nvSpPr>
        <p:spPr>
          <a:xfrm>
            <a:off x="3108960" y="4462272"/>
            <a:ext cx="1280160" cy="201168"/>
          </a:xfrm>
          <a:prstGeom prst="roundRect">
            <a:avLst>
              <a:gd name="adj" fmla="val 22727"/>
            </a:avLst>
          </a:prstGeom>
          <a:solidFill>
            <a:srgbClr val="D9EDF6"/>
          </a:solidFill>
          <a:ln/>
        </p:spPr>
        <p:txBody>
          <a:bodyPr wrap="square" lIns="0" tIns="0" rIns="0" bIns="0" rtlCol="0" anchor="ctr"/>
          <a:lstStyle/>
          <a:p>
            <a:pPr algn="ctr" indent="0" marL="0">
              <a:buNone/>
            </a:pPr>
            <a:r>
              <a:rPr lang="en-US" sz="900" b="1" dirty="0">
                <a:solidFill>
                  <a:srgbClr val="0B6E99"/>
                </a:solidFill>
                <a:latin typeface="Courier New" pitchFamily="34" charset="0"/>
                <a:ea typeface="Courier New" pitchFamily="34" charset="-122"/>
                <a:cs typeface="Courier New" pitchFamily="34" charset="-120"/>
              </a:rPr>
              <a:t>object_storage</a:t>
            </a:r>
            <a:endParaRPr lang="en-US" sz="900" dirty="0"/>
          </a:p>
        </p:txBody>
      </p:sp>
      <p:sp>
        <p:nvSpPr>
          <p:cNvPr id="15" name="Text 13"/>
          <p:cNvSpPr/>
          <p:nvPr/>
        </p:nvSpPr>
        <p:spPr>
          <a:xfrm>
            <a:off x="4480560" y="4462272"/>
            <a:ext cx="1280160" cy="201168"/>
          </a:xfrm>
          <a:prstGeom prst="rect">
            <a:avLst/>
          </a:prstGeom>
          <a:noFill/>
          <a:ln/>
        </p:spPr>
        <p:txBody>
          <a:bodyPr wrap="square" lIns="0" tIns="0" rIns="0" bIns="0" rtlCol="0" anchor="ctr"/>
          <a:lstStyle/>
          <a:p>
            <a:pPr indent="0" marL="0">
              <a:buNone/>
            </a:pPr>
            <a:r>
              <a:rPr lang="en-US" sz="1000" dirty="0">
                <a:solidFill>
                  <a:srgbClr val="586A77"/>
                </a:solidFill>
                <a:latin typeface="Calibri" pitchFamily="34" charset="0"/>
                <a:ea typeface="Calibri" pitchFamily="34" charset="-122"/>
                <a:cs typeface="Calibri" pitchFamily="34" charset="-120"/>
              </a:rPr>
              <a:t>$131,07/tháng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AI và data governance</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Bốn lớp: lọc đầu vào, con người xác nhận, mã hóa và che PII, nhật ký giữ 12 tháng.</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8 / 14</a:t>
            </a:r>
            <a:endParaRPr lang="en-US" sz="900" dirty="0"/>
          </a:p>
        </p:txBody>
      </p:sp>
      <p:sp>
        <p:nvSpPr>
          <p:cNvPr id="6" name="Shape 4"/>
          <p:cNvSpPr/>
          <p:nvPr/>
        </p:nvSpPr>
        <p:spPr>
          <a:xfrm>
            <a:off x="457200" y="1188720"/>
            <a:ext cx="4023360" cy="3108960"/>
          </a:xfrm>
          <a:prstGeom prst="roundRect">
            <a:avLst>
              <a:gd name="adj" fmla="val 2353"/>
            </a:avLst>
          </a:prstGeom>
          <a:solidFill>
            <a:srgbClr val="F2F6F9"/>
          </a:solidFill>
          <a:ln w="12700">
            <a:solidFill>
              <a:srgbClr val="F2F6F9"/>
            </a:solidFill>
            <a:prstDash val="solid"/>
          </a:ln>
        </p:spPr>
      </p:sp>
      <p:sp>
        <p:nvSpPr>
          <p:cNvPr id="7" name="Text 5"/>
          <p:cNvSpPr/>
          <p:nvPr/>
        </p:nvSpPr>
        <p:spPr>
          <a:xfrm>
            <a:off x="594360" y="1261872"/>
            <a:ext cx="3749040" cy="274320"/>
          </a:xfrm>
          <a:prstGeom prst="rect">
            <a:avLst/>
          </a:prstGeom>
          <a:noFill/>
          <a:ln/>
        </p:spPr>
        <p:txBody>
          <a:bodyPr wrap="square" lIns="0" tIns="0" rIns="0" bIns="0" rtlCol="0" anchor="ctr"/>
          <a:lstStyle/>
          <a:p>
            <a:pPr indent="0" marL="0">
              <a:buNone/>
            </a:pPr>
            <a:r>
              <a:rPr lang="en-US" sz="1400" b="1" dirty="0">
                <a:solidFill>
                  <a:srgbClr val="0B2536"/>
                </a:solidFill>
                <a:latin typeface="Calibri" pitchFamily="34" charset="0"/>
                <a:ea typeface="Calibri" pitchFamily="34" charset="-122"/>
                <a:cs typeface="Calibri" pitchFamily="34" charset="-120"/>
              </a:rPr>
              <a:t>AI governance (H4)</a:t>
            </a:r>
            <a:endParaRPr lang="en-US" sz="1400" dirty="0"/>
          </a:p>
        </p:txBody>
      </p:sp>
      <p:sp>
        <p:nvSpPr>
          <p:cNvPr id="8" name="Text 6"/>
          <p:cNvSpPr/>
          <p:nvPr/>
        </p:nvSpPr>
        <p:spPr>
          <a:xfrm>
            <a:off x="594360" y="1600200"/>
            <a:ext cx="3749040" cy="26517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Bedrock Guardrails (content filter, prompt attack) cho prompt người dùng và nội dung connector trước hành động ghi.</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Tách nội dung không tin cậy (email, tài liệu) khỏi chỉ dẫn.</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Người dùng xác nhận trước khi gửi email, tạo ticket hoặc xóa file.</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Cổng eval: đổi model hay prompt phải qua bộ test H8 trước.</a:t>
            </a:r>
            <a:endParaRPr lang="en-US" sz="1150" dirty="0"/>
          </a:p>
        </p:txBody>
      </p:sp>
      <p:sp>
        <p:nvSpPr>
          <p:cNvPr id="9" name="Shape 7"/>
          <p:cNvSpPr/>
          <p:nvPr/>
        </p:nvSpPr>
        <p:spPr>
          <a:xfrm>
            <a:off x="4663440" y="1188720"/>
            <a:ext cx="4023360" cy="3108960"/>
          </a:xfrm>
          <a:prstGeom prst="roundRect">
            <a:avLst>
              <a:gd name="adj" fmla="val 2353"/>
            </a:avLst>
          </a:prstGeom>
          <a:solidFill>
            <a:srgbClr val="F2F6F9"/>
          </a:solidFill>
          <a:ln w="12700">
            <a:solidFill>
              <a:srgbClr val="F2F6F9"/>
            </a:solidFill>
            <a:prstDash val="solid"/>
          </a:ln>
        </p:spPr>
      </p:sp>
      <p:sp>
        <p:nvSpPr>
          <p:cNvPr id="10" name="Text 8"/>
          <p:cNvSpPr/>
          <p:nvPr/>
        </p:nvSpPr>
        <p:spPr>
          <a:xfrm>
            <a:off x="4800600" y="1261872"/>
            <a:ext cx="3749040" cy="274320"/>
          </a:xfrm>
          <a:prstGeom prst="rect">
            <a:avLst/>
          </a:prstGeom>
          <a:noFill/>
          <a:ln/>
        </p:spPr>
        <p:txBody>
          <a:bodyPr wrap="square" lIns="0" tIns="0" rIns="0" bIns="0" rtlCol="0" anchor="ctr"/>
          <a:lstStyle/>
          <a:p>
            <a:pPr indent="0" marL="0">
              <a:buNone/>
            </a:pPr>
            <a:r>
              <a:rPr lang="en-US" sz="1400" b="1" dirty="0">
                <a:solidFill>
                  <a:srgbClr val="0B2536"/>
                </a:solidFill>
                <a:latin typeface="Calibri" pitchFamily="34" charset="0"/>
                <a:ea typeface="Calibri" pitchFamily="34" charset="-122"/>
                <a:cs typeface="Calibri" pitchFamily="34" charset="-120"/>
              </a:rPr>
              <a:t>Data governance (H5)</a:t>
            </a:r>
            <a:endParaRPr lang="en-US" sz="1400" dirty="0"/>
          </a:p>
        </p:txBody>
      </p:sp>
      <p:sp>
        <p:nvSpPr>
          <p:cNvPr id="11" name="Text 9"/>
          <p:cNvSpPr/>
          <p:nvPr/>
        </p:nvSpPr>
        <p:spPr>
          <a:xfrm>
            <a:off x="4800600" y="1600200"/>
            <a:ext cx="3749040" cy="26517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Mã hóa lúc lưu bằng SSE-KMS, lúc truyền bằng TLS.</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Presidio che PII; chưa đo trên tiếng Việt.</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Audit log 12 tháng ở S3 Object Lock; log ứng dụng 30 ngày; chat 12 tháng rồi xóa.</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Theo tài liệu AWS, dữ liệu vào Bedrock không dùng để huấn luyện và không chia sẻ cho nhà cung cấp model.</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Phân loại 3 mức (Công khai, Nội bộ, Mật); mức Mật không ra khỏi AWS. Workspace xóa 90 ngày sau khi khóa tài khoản.</a:t>
            </a:r>
            <a:endParaRPr lang="en-US" sz="1150" dirty="0"/>
          </a:p>
        </p:txBody>
      </p:sp>
      <p:sp>
        <p:nvSpPr>
          <p:cNvPr id="12" name="Text 10"/>
          <p:cNvSpPr/>
          <p:nvPr/>
        </p:nvSpPr>
        <p:spPr>
          <a:xfrm>
            <a:off x="457200" y="4462272"/>
            <a:ext cx="1097280" cy="201168"/>
          </a:xfrm>
          <a:prstGeom prst="roundRect">
            <a:avLst>
              <a:gd name="adj" fmla="val 22727"/>
            </a:avLst>
          </a:prstGeom>
          <a:solidFill>
            <a:srgbClr val="D9EDF6"/>
          </a:solidFill>
          <a:ln/>
        </p:spPr>
        <p:txBody>
          <a:bodyPr wrap="square" lIns="0" tIns="0" rIns="0" bIns="0" rtlCol="0" anchor="ctr"/>
          <a:lstStyle/>
          <a:p>
            <a:pPr algn="ctr" indent="0" marL="0">
              <a:buNone/>
            </a:pPr>
            <a:r>
              <a:rPr lang="en-US" sz="900" b="1" dirty="0">
                <a:solidFill>
                  <a:srgbClr val="0B6E99"/>
                </a:solidFill>
                <a:latin typeface="Courier New" pitchFamily="34" charset="0"/>
                <a:ea typeface="Courier New" pitchFamily="34" charset="-122"/>
                <a:cs typeface="Courier New" pitchFamily="34" charset="-120"/>
              </a:rPr>
              <a:t>governance</a:t>
            </a:r>
            <a:endParaRPr lang="en-US" sz="900" dirty="0"/>
          </a:p>
        </p:txBody>
      </p:sp>
      <p:sp>
        <p:nvSpPr>
          <p:cNvPr id="13" name="Text 11"/>
          <p:cNvSpPr/>
          <p:nvPr/>
        </p:nvSpPr>
        <p:spPr>
          <a:xfrm>
            <a:off x="1600200" y="4462272"/>
            <a:ext cx="4114800" cy="201168"/>
          </a:xfrm>
          <a:prstGeom prst="rect">
            <a:avLst/>
          </a:prstGeom>
          <a:noFill/>
          <a:ln/>
        </p:spPr>
        <p:txBody>
          <a:bodyPr wrap="square" lIns="0" tIns="0" rIns="0" bIns="0" rtlCol="0" anchor="ctr"/>
          <a:lstStyle/>
          <a:p>
            <a:pPr indent="0" marL="0">
              <a:buNone/>
            </a:pPr>
            <a:r>
              <a:rPr lang="en-US" sz="1000" dirty="0">
                <a:solidFill>
                  <a:srgbClr val="586A77"/>
                </a:solidFill>
                <a:latin typeface="Calibri" pitchFamily="34" charset="0"/>
                <a:ea typeface="Calibri" pitchFamily="34" charset="-122"/>
                <a:cs typeface="Calibri" pitchFamily="34" charset="-120"/>
              </a:rPr>
              <a:t>$881,40/tháng, trong đó Guardrails $792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HA, backup và DR</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Không có điểm lỗi đơn ở LB, gateway, database. DR sang Sydney.</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9 / 14</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297680" cy="914400"/>
        </p:xfrm>
        <a:graphic>
          <a:graphicData uri="http://schemas.openxmlformats.org/drawingml/2006/table">
            <a:tbl>
              <a:tblPr/>
              <a:tblGrid>
                <a:gridCol w="2011680"/>
                <a:gridCol w="228600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Thành phần</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Cách đạt HA</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r>
              <a:tr h="329184">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ALB, WAF</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2 AZ</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Fargate: app, gateway, worker</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Tối thiểu 2 task, mỗi AZ một task</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329184">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RDS PostgreSQL</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Multi-AZ, standby ở AZ khác</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ElastiCache</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2 node, 2 AZ</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329184">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NAT, VPC endpoint</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Mỗi AZ một bộ</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S3, Lambda</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dirty="0">
                          <a:solidFill>
                            <a:srgbClr val="13222D"/>
                          </a:solidFill>
                          <a:latin typeface="Calibri" pitchFamily="34" charset="0"/>
                          <a:ea typeface="Calibri" pitchFamily="34" charset="-122"/>
                          <a:cs typeface="Calibri" pitchFamily="34" charset="-120"/>
                        </a:rPr>
                        <a:t>Đa AZ sẵn có</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bl>
          </a:graphicData>
        </a:graphic>
      </p:graphicFrame>
      <p:sp>
        <p:nvSpPr>
          <p:cNvPr id="7" name="Shape 4"/>
          <p:cNvSpPr/>
          <p:nvPr/>
        </p:nvSpPr>
        <p:spPr>
          <a:xfrm>
            <a:off x="4937760" y="1188720"/>
            <a:ext cx="3749040" cy="1371600"/>
          </a:xfrm>
          <a:prstGeom prst="roundRect">
            <a:avLst>
              <a:gd name="adj" fmla="val 5333"/>
            </a:avLst>
          </a:prstGeom>
          <a:solidFill>
            <a:srgbClr val="F2F6F9"/>
          </a:solidFill>
          <a:ln w="12700">
            <a:solidFill>
              <a:srgbClr val="F2F6F9"/>
            </a:solidFill>
            <a:prstDash val="solid"/>
          </a:ln>
        </p:spPr>
      </p:sp>
      <p:sp>
        <p:nvSpPr>
          <p:cNvPr id="8" name="Text 5"/>
          <p:cNvSpPr/>
          <p:nvPr/>
        </p:nvSpPr>
        <p:spPr>
          <a:xfrm>
            <a:off x="5074920" y="1261872"/>
            <a:ext cx="3520440" cy="1234440"/>
          </a:xfrm>
          <a:prstGeom prst="rect">
            <a:avLst/>
          </a:prstGeom>
          <a:noFill/>
          <a:ln/>
        </p:spPr>
        <p:txBody>
          <a:bodyPr wrap="square" lIns="0" tIns="0" rIns="0" bIns="0" rtlCol="0" anchor="t"/>
          <a:lstStyle/>
          <a:p>
            <a:pPr indent="0" marL="0">
              <a:buNone/>
            </a:pPr>
            <a:r>
              <a:rPr lang="en-US" sz="1200" b="1" dirty="0">
                <a:solidFill>
                  <a:srgbClr val="0B2536"/>
                </a:solidFill>
                <a:latin typeface="Calibri" pitchFamily="34" charset="0"/>
                <a:ea typeface="Calibri" pitchFamily="34" charset="-122"/>
                <a:cs typeface="Calibri" pitchFamily="34" charset="-120"/>
              </a:rPr>
              <a:t>Một AZ mất lúc 10 giờ sáng</a:t>
            </a:r>
            <a:endParaRPr lang="en-US" sz="1200" dirty="0"/>
          </a:p>
          <a:p>
            <a:pPr indent="0" marL="0">
              <a:buNone/>
            </a:pPr>
            <a:r>
              <a:rPr lang="en-US" sz="1100" dirty="0">
                <a:solidFill>
                  <a:srgbClr val="13222D"/>
                </a:solidFill>
                <a:latin typeface="Calibri" pitchFamily="34" charset="0"/>
                <a:ea typeface="Calibri" pitchFamily="34" charset="-122"/>
                <a:cs typeface="Calibri" pitchFamily="34" charset="-120"/>
              </a:rPr>
              <a:t>ALB và Fargate chuyển sang AZ còn lại; RDS failover trong khoảng 1-2 phút (ước tính, chờ bằng chứng). Ngân sách 99,5% giờ hành chính là 1,1 giờ/tháng.</a:t>
            </a:r>
            <a:endParaRPr lang="en-US" sz="1200" dirty="0"/>
          </a:p>
        </p:txBody>
      </p:sp>
      <p:sp>
        <p:nvSpPr>
          <p:cNvPr id="9" name="Shape 6"/>
          <p:cNvSpPr/>
          <p:nvPr/>
        </p:nvSpPr>
        <p:spPr>
          <a:xfrm>
            <a:off x="4937760" y="2697480"/>
            <a:ext cx="3749040" cy="1600200"/>
          </a:xfrm>
          <a:prstGeom prst="roundRect">
            <a:avLst>
              <a:gd name="adj" fmla="val 4571"/>
            </a:avLst>
          </a:prstGeom>
          <a:solidFill>
            <a:srgbClr val="F2F6F9"/>
          </a:solidFill>
          <a:ln w="12700">
            <a:solidFill>
              <a:srgbClr val="F2F6F9"/>
            </a:solidFill>
            <a:prstDash val="solid"/>
          </a:ln>
        </p:spPr>
      </p:sp>
      <p:sp>
        <p:nvSpPr>
          <p:cNvPr id="10" name="Text 7"/>
          <p:cNvSpPr/>
          <p:nvPr/>
        </p:nvSpPr>
        <p:spPr>
          <a:xfrm>
            <a:off x="5074920" y="2770632"/>
            <a:ext cx="3520440" cy="1463040"/>
          </a:xfrm>
          <a:prstGeom prst="rect">
            <a:avLst/>
          </a:prstGeom>
          <a:noFill/>
          <a:ln/>
        </p:spPr>
        <p:txBody>
          <a:bodyPr wrap="square" lIns="0" tIns="0" rIns="0" bIns="0" rtlCol="0" anchor="t"/>
          <a:lstStyle/>
          <a:p>
            <a:pPr indent="0" marL="0">
              <a:buNone/>
            </a:pPr>
            <a:r>
              <a:rPr lang="en-US" sz="1200" b="1" dirty="0">
                <a:solidFill>
                  <a:srgbClr val="0B2536"/>
                </a:solidFill>
                <a:latin typeface="Calibri" pitchFamily="34" charset="0"/>
                <a:ea typeface="Calibri" pitchFamily="34" charset="-122"/>
                <a:cs typeface="Calibri" pitchFamily="34" charset="-120"/>
              </a:rPr>
              <a:t>Mất cả region Singapore</a:t>
            </a:r>
            <a:endParaRPr lang="en-US" sz="1200" dirty="0"/>
          </a:p>
          <a:p>
            <a:pPr indent="0" marL="0">
              <a:buNone/>
            </a:pPr>
            <a:r>
              <a:rPr lang="en-US" sz="1100" dirty="0">
                <a:solidFill>
                  <a:srgbClr val="13222D"/>
                </a:solidFill>
                <a:latin typeface="Calibri" pitchFamily="34" charset="0"/>
                <a:ea typeface="Calibri" pitchFamily="34" charset="-122"/>
                <a:cs typeface="Calibri" pitchFamily="34" charset="-120"/>
              </a:rPr>
              <a:t>Backup RDS và S3 sao chép sang Sydney, dựng lại bằng Terraform. RTO ước tính 3-4 giờ, sát ngưỡng 4 giờ của đề; RPO dưới 1 giờ. Chưa diễn tập, nên lịch diễn tập khôi phục theo quý là cam kết.</a:t>
            </a:r>
            <a:endParaRPr lang="en-US" sz="1200" dirty="0"/>
          </a:p>
        </p:txBody>
      </p:sp>
      <p:sp>
        <p:nvSpPr>
          <p:cNvPr id="11" name="Text 8"/>
          <p:cNvSpPr/>
          <p:nvPr/>
        </p:nvSpPr>
        <p:spPr>
          <a:xfrm>
            <a:off x="457200" y="3657600"/>
            <a:ext cx="1097280" cy="201168"/>
          </a:xfrm>
          <a:prstGeom prst="roundRect">
            <a:avLst>
              <a:gd name="adj" fmla="val 22727"/>
            </a:avLst>
          </a:prstGeom>
          <a:solidFill>
            <a:srgbClr val="D9EDF6"/>
          </a:solidFill>
          <a:ln/>
        </p:spPr>
        <p:txBody>
          <a:bodyPr wrap="square" lIns="0" tIns="0" rIns="0" bIns="0" rtlCol="0" anchor="ctr"/>
          <a:lstStyle/>
          <a:p>
            <a:pPr algn="ctr" indent="0" marL="0">
              <a:buNone/>
            </a:pPr>
            <a:r>
              <a:rPr lang="en-US" sz="900" b="1" dirty="0">
                <a:solidFill>
                  <a:srgbClr val="0B6E99"/>
                </a:solidFill>
                <a:latin typeface="Courier New" pitchFamily="34" charset="0"/>
                <a:ea typeface="Courier New" pitchFamily="34" charset="-122"/>
                <a:cs typeface="Courier New" pitchFamily="34" charset="-120"/>
              </a:rPr>
              <a:t>backup_dr</a:t>
            </a:r>
            <a:endParaRPr lang="en-US" sz="900" dirty="0"/>
          </a:p>
        </p:txBody>
      </p:sp>
      <p:sp>
        <p:nvSpPr>
          <p:cNvPr id="12" name="Text 9"/>
          <p:cNvSpPr/>
          <p:nvPr/>
        </p:nvSpPr>
        <p:spPr>
          <a:xfrm>
            <a:off x="1600200" y="3657600"/>
            <a:ext cx="1463040" cy="201168"/>
          </a:xfrm>
          <a:prstGeom prst="rect">
            <a:avLst/>
          </a:prstGeom>
          <a:noFill/>
          <a:ln/>
        </p:spPr>
        <p:txBody>
          <a:bodyPr wrap="square" lIns="0" tIns="0" rIns="0" bIns="0" rtlCol="0" anchor="ctr"/>
          <a:lstStyle/>
          <a:p>
            <a:pPr indent="0" marL="0">
              <a:buNone/>
            </a:pPr>
            <a:r>
              <a:rPr lang="en-US" sz="1000" dirty="0">
                <a:solidFill>
                  <a:srgbClr val="586A77"/>
                </a:solidFill>
                <a:latin typeface="Calibri" pitchFamily="34" charset="0"/>
                <a:ea typeface="Calibri" pitchFamily="34" charset="-122"/>
                <a:cs typeface="Calibri" pitchFamily="34" charset="-120"/>
              </a:rPr>
              <a:t>$172,83/tháng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Monitoring và FinOps</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Đo đủ để chứng minh chất lượng, độ trễ và chi phí trên từng người dùng.</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10 / 14</a:t>
            </a:r>
            <a:endParaRPr lang="en-US" sz="900" dirty="0"/>
          </a:p>
        </p:txBody>
      </p:sp>
      <p:sp>
        <p:nvSpPr>
          <p:cNvPr id="6" name="Shape 4"/>
          <p:cNvSpPr/>
          <p:nvPr/>
        </p:nvSpPr>
        <p:spPr>
          <a:xfrm>
            <a:off x="457200" y="1188720"/>
            <a:ext cx="4023360" cy="1280160"/>
          </a:xfrm>
          <a:prstGeom prst="roundRect">
            <a:avLst>
              <a:gd name="adj" fmla="val 5714"/>
            </a:avLst>
          </a:prstGeom>
          <a:solidFill>
            <a:srgbClr val="F2F6F9"/>
          </a:solidFill>
          <a:ln w="12700">
            <a:solidFill>
              <a:srgbClr val="F2F6F9"/>
            </a:solidFill>
            <a:prstDash val="solid"/>
          </a:ln>
        </p:spPr>
      </p:sp>
      <p:sp>
        <p:nvSpPr>
          <p:cNvPr id="7" name="Text 5"/>
          <p:cNvSpPr/>
          <p:nvPr/>
        </p:nvSpPr>
        <p:spPr>
          <a:xfrm>
            <a:off x="594360" y="1261872"/>
            <a:ext cx="3749040" cy="25603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Quan sát</a:t>
            </a:r>
            <a:endParaRPr lang="en-US" sz="1300" dirty="0"/>
          </a:p>
        </p:txBody>
      </p:sp>
      <p:sp>
        <p:nvSpPr>
          <p:cNvPr id="8" name="Text 6"/>
          <p:cNvSpPr/>
          <p:nvPr/>
        </p:nvSpPr>
        <p:spPr>
          <a:xfrm>
            <a:off x="594360" y="1554480"/>
            <a:ext cx="3749040" cy="868680"/>
          </a:xfrm>
          <a:prstGeom prst="rect">
            <a:avLst/>
          </a:prstGeom>
          <a:noFill/>
          <a:ln/>
        </p:spPr>
        <p:txBody>
          <a:bodyPr wrap="square" lIns="0" tIns="0" rIns="0" bIns="0" rtlCol="0" anchor="t"/>
          <a:lstStyle/>
          <a:p>
            <a:pPr indent="0" marL="0">
              <a:buNone/>
            </a:pPr>
            <a:r>
              <a:rPr lang="en-US" sz="1100" dirty="0">
                <a:solidFill>
                  <a:srgbClr val="13222D"/>
                </a:solidFill>
                <a:latin typeface="Calibri" pitchFamily="34" charset="0"/>
                <a:ea typeface="Calibri" pitchFamily="34" charset="-122"/>
                <a:cs typeface="Calibri" pitchFamily="34" charset="-120"/>
              </a:rPr>
              <a:t>CloudWatch: log, metric, alarm. Cảnh báo khi p95 thời gian tới token đầu vượt 2,5 giây trong 5 phút.</a:t>
            </a:r>
            <a:endParaRPr lang="en-US" sz="1100" dirty="0"/>
          </a:p>
        </p:txBody>
      </p:sp>
      <p:sp>
        <p:nvSpPr>
          <p:cNvPr id="9" name="Shape 7"/>
          <p:cNvSpPr/>
          <p:nvPr/>
        </p:nvSpPr>
        <p:spPr>
          <a:xfrm>
            <a:off x="4663440" y="1188720"/>
            <a:ext cx="4023360" cy="1280160"/>
          </a:xfrm>
          <a:prstGeom prst="roundRect">
            <a:avLst>
              <a:gd name="adj" fmla="val 5714"/>
            </a:avLst>
          </a:prstGeom>
          <a:solidFill>
            <a:srgbClr val="F2F6F9"/>
          </a:solidFill>
          <a:ln w="12700">
            <a:solidFill>
              <a:srgbClr val="F2F6F9"/>
            </a:solidFill>
            <a:prstDash val="solid"/>
          </a:ln>
        </p:spPr>
      </p:sp>
      <p:sp>
        <p:nvSpPr>
          <p:cNvPr id="10" name="Text 8"/>
          <p:cNvSpPr/>
          <p:nvPr/>
        </p:nvSpPr>
        <p:spPr>
          <a:xfrm>
            <a:off x="4800600" y="1261872"/>
            <a:ext cx="3749040" cy="25603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Chi phí LLM</a:t>
            </a:r>
            <a:endParaRPr lang="en-US" sz="1300" dirty="0"/>
          </a:p>
        </p:txBody>
      </p:sp>
      <p:sp>
        <p:nvSpPr>
          <p:cNvPr id="11" name="Text 9"/>
          <p:cNvSpPr/>
          <p:nvPr/>
        </p:nvSpPr>
        <p:spPr>
          <a:xfrm>
            <a:off x="4800600" y="1554480"/>
            <a:ext cx="3749040" cy="868680"/>
          </a:xfrm>
          <a:prstGeom prst="rect">
            <a:avLst/>
          </a:prstGeom>
          <a:noFill/>
          <a:ln/>
        </p:spPr>
        <p:txBody>
          <a:bodyPr wrap="square" lIns="0" tIns="0" rIns="0" bIns="0" rtlCol="0" anchor="t"/>
          <a:lstStyle/>
          <a:p>
            <a:pPr indent="0" marL="0">
              <a:buNone/>
            </a:pPr>
            <a:r>
              <a:rPr lang="en-US" sz="1100" dirty="0">
                <a:solidFill>
                  <a:srgbClr val="13222D"/>
                </a:solidFill>
                <a:latin typeface="Calibri" pitchFamily="34" charset="0"/>
                <a:ea typeface="Calibri" pitchFamily="34" charset="-122"/>
                <a:cs typeface="Calibri" pitchFamily="34" charset="-120"/>
              </a:rPr>
              <a:t>Đọc usage mỗi lượt gọi Bedrock: token vào/ra, cacheRead, cacheWrite, stopReason. Bảng chi tiêu theo người dùng và nhóm trong LiteLLM.</a:t>
            </a:r>
            <a:endParaRPr lang="en-US" sz="1100" dirty="0"/>
          </a:p>
        </p:txBody>
      </p:sp>
      <p:sp>
        <p:nvSpPr>
          <p:cNvPr id="12" name="Shape 10"/>
          <p:cNvSpPr/>
          <p:nvPr/>
        </p:nvSpPr>
        <p:spPr>
          <a:xfrm>
            <a:off x="457200" y="2606040"/>
            <a:ext cx="4023360" cy="1280160"/>
          </a:xfrm>
          <a:prstGeom prst="roundRect">
            <a:avLst>
              <a:gd name="adj" fmla="val 5714"/>
            </a:avLst>
          </a:prstGeom>
          <a:solidFill>
            <a:srgbClr val="F2F6F9"/>
          </a:solidFill>
          <a:ln w="12700">
            <a:solidFill>
              <a:srgbClr val="F2F6F9"/>
            </a:solidFill>
            <a:prstDash val="solid"/>
          </a:ln>
        </p:spPr>
      </p:sp>
      <p:sp>
        <p:nvSpPr>
          <p:cNvPr id="13" name="Text 11"/>
          <p:cNvSpPr/>
          <p:nvPr/>
        </p:nvSpPr>
        <p:spPr>
          <a:xfrm>
            <a:off x="594360" y="2679192"/>
            <a:ext cx="3749040" cy="25603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Quota và cắt</a:t>
            </a:r>
            <a:endParaRPr lang="en-US" sz="1300" dirty="0"/>
          </a:p>
        </p:txBody>
      </p:sp>
      <p:sp>
        <p:nvSpPr>
          <p:cNvPr id="14" name="Text 12"/>
          <p:cNvSpPr/>
          <p:nvPr/>
        </p:nvSpPr>
        <p:spPr>
          <a:xfrm>
            <a:off x="594360" y="2971800"/>
            <a:ext cx="3749040" cy="868680"/>
          </a:xfrm>
          <a:prstGeom prst="rect">
            <a:avLst/>
          </a:prstGeom>
          <a:noFill/>
          <a:ln/>
        </p:spPr>
        <p:txBody>
          <a:bodyPr wrap="square" lIns="0" tIns="0" rIns="0" bIns="0" rtlCol="0" anchor="t"/>
          <a:lstStyle/>
          <a:p>
            <a:pPr indent="0" marL="0">
              <a:buNone/>
            </a:pPr>
            <a:r>
              <a:rPr lang="en-US" sz="1100" dirty="0">
                <a:solidFill>
                  <a:srgbClr val="13222D"/>
                </a:solidFill>
                <a:latin typeface="Calibri" pitchFamily="34" charset="0"/>
                <a:ea typeface="Calibri" pitchFamily="34" charset="-122"/>
                <a:cs typeface="Calibri" pitchFamily="34" charset="-120"/>
              </a:rPr>
              <a:t>Khóa ảo LiteLLM theo người và đơn vị, cảnh báo ngân sách, cắt khi vượt. Một số tính năng ngân sách theo tag là bản trả phí, nên có alarm CloudWatch bù.</a:t>
            </a:r>
            <a:endParaRPr lang="en-US" sz="1100" dirty="0"/>
          </a:p>
        </p:txBody>
      </p:sp>
      <p:sp>
        <p:nvSpPr>
          <p:cNvPr id="15" name="Shape 13"/>
          <p:cNvSpPr/>
          <p:nvPr/>
        </p:nvSpPr>
        <p:spPr>
          <a:xfrm>
            <a:off x="4663440" y="2606040"/>
            <a:ext cx="4023360" cy="1280160"/>
          </a:xfrm>
          <a:prstGeom prst="roundRect">
            <a:avLst>
              <a:gd name="adj" fmla="val 5714"/>
            </a:avLst>
          </a:prstGeom>
          <a:solidFill>
            <a:srgbClr val="F2F6F9"/>
          </a:solidFill>
          <a:ln w="12700">
            <a:solidFill>
              <a:srgbClr val="F2F6F9"/>
            </a:solidFill>
            <a:prstDash val="solid"/>
          </a:ln>
        </p:spPr>
      </p:sp>
      <p:sp>
        <p:nvSpPr>
          <p:cNvPr id="16" name="Text 14"/>
          <p:cNvSpPr/>
          <p:nvPr/>
        </p:nvSpPr>
        <p:spPr>
          <a:xfrm>
            <a:off x="4800600" y="2679192"/>
            <a:ext cx="3749040" cy="256032"/>
          </a:xfrm>
          <a:prstGeom prst="rect">
            <a:avLst/>
          </a:prstGeom>
          <a:noFill/>
          <a:ln/>
        </p:spPr>
        <p:txBody>
          <a:bodyPr wrap="square" lIns="0" tIns="0" rIns="0" bIns="0" rtlCol="0" anchor="ctr"/>
          <a:lstStyle/>
          <a:p>
            <a:pPr indent="0" marL="0">
              <a:buNone/>
            </a:pPr>
            <a:r>
              <a:rPr lang="en-US" sz="1300" b="1" dirty="0">
                <a:solidFill>
                  <a:srgbClr val="0B2536"/>
                </a:solidFill>
                <a:latin typeface="Calibri" pitchFamily="34" charset="0"/>
                <a:ea typeface="Calibri" pitchFamily="34" charset="-122"/>
                <a:cs typeface="Calibri" pitchFamily="34" charset="-120"/>
              </a:rPr>
              <a:t>Chất lượng</a:t>
            </a:r>
            <a:endParaRPr lang="en-US" sz="1300" dirty="0"/>
          </a:p>
        </p:txBody>
      </p:sp>
      <p:sp>
        <p:nvSpPr>
          <p:cNvPr id="17" name="Text 15"/>
          <p:cNvSpPr/>
          <p:nvPr/>
        </p:nvSpPr>
        <p:spPr>
          <a:xfrm>
            <a:off x="4800600" y="2971800"/>
            <a:ext cx="3749040" cy="868680"/>
          </a:xfrm>
          <a:prstGeom prst="rect">
            <a:avLst/>
          </a:prstGeom>
          <a:noFill/>
          <a:ln/>
        </p:spPr>
        <p:txBody>
          <a:bodyPr wrap="square" lIns="0" tIns="0" rIns="0" bIns="0" rtlCol="0" anchor="t"/>
          <a:lstStyle/>
          <a:p>
            <a:pPr indent="0" marL="0">
              <a:buNone/>
            </a:pPr>
            <a:r>
              <a:rPr lang="en-US" sz="1100" dirty="0">
                <a:solidFill>
                  <a:srgbClr val="13222D"/>
                </a:solidFill>
                <a:latin typeface="Calibri" pitchFamily="34" charset="0"/>
                <a:ea typeface="Calibri" pitchFamily="34" charset="-122"/>
                <a:cs typeface="Calibri" pitchFamily="34" charset="-120"/>
              </a:rPr>
              <a:t>Bộ test mỗi cấp chạy mỗi lần đổi model hay prompt; theo dõi tỉ lệ hỏi lại và tỉ lệ leo thang Haiku → Sonnet.</a:t>
            </a:r>
            <a:endParaRPr lang="en-US" sz="1100" dirty="0"/>
          </a:p>
        </p:txBody>
      </p:sp>
      <p:sp>
        <p:nvSpPr>
          <p:cNvPr id="18" name="Shape 16"/>
          <p:cNvSpPr/>
          <p:nvPr/>
        </p:nvSpPr>
        <p:spPr>
          <a:xfrm>
            <a:off x="457200" y="4069080"/>
            <a:ext cx="8229600" cy="594360"/>
          </a:xfrm>
          <a:prstGeom prst="roundRect">
            <a:avLst>
              <a:gd name="adj" fmla="val 12308"/>
            </a:avLst>
          </a:prstGeom>
          <a:solidFill>
            <a:srgbClr val="FBEBD6"/>
          </a:solidFill>
          <a:ln w="12700">
            <a:solidFill>
              <a:srgbClr val="FBEBD6"/>
            </a:solidFill>
            <a:prstDash val="solid"/>
          </a:ln>
        </p:spPr>
      </p:sp>
      <p:sp>
        <p:nvSpPr>
          <p:cNvPr id="19" name="Text 17"/>
          <p:cNvSpPr/>
          <p:nvPr/>
        </p:nvSpPr>
        <p:spPr>
          <a:xfrm>
            <a:off x="594360" y="4114800"/>
            <a:ext cx="7955280" cy="502920"/>
          </a:xfrm>
          <a:prstGeom prst="rect">
            <a:avLst/>
          </a:prstGeom>
          <a:noFill/>
          <a:ln/>
        </p:spPr>
        <p:txBody>
          <a:bodyPr wrap="square" lIns="0" tIns="0" rIns="0" bIns="0" rtlCol="0" anchor="ctr"/>
          <a:lstStyle/>
          <a:p>
            <a:pPr indent="0" marL="0">
              <a:buNone/>
            </a:pPr>
            <a:r>
              <a:rPr lang="en-US" sz="1150" b="1" dirty="0">
                <a:solidFill>
                  <a:srgbClr val="B45309"/>
                </a:solidFill>
                <a:latin typeface="Calibri" pitchFamily="34" charset="0"/>
                <a:ea typeface="Calibri" pitchFamily="34" charset="-122"/>
                <a:cs typeface="Calibri" pitchFamily="34" charset="-120"/>
              </a:rPr>
              <a:t>$9,44 mỗi người dùng mỗi tháng</a:t>
            </a:r>
            <a:pPr indent="0" marL="0">
              <a:buNone/>
            </a:pPr>
            <a:r>
              <a:rPr lang="en-US" sz="1150" dirty="0">
                <a:solidFill>
                  <a:srgbClr val="13222D"/>
                </a:solidFill>
                <a:latin typeface="Calibri" pitchFamily="34" charset="0"/>
                <a:ea typeface="Calibri" pitchFamily="34" charset="-122"/>
                <a:cs typeface="Calibri" pitchFamily="34" charset="-120"/>
              </a:rPr>
              <a:t>; monitoring $45,16/tháng. Không mua AWS Support trả phí (ước ~$900-1.950/tháng); bù bằng 1,5 FTE và diễn tập DR.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Chi phí</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$18.872 mỗi tháng, $9,44 mỗi người dùng. Không tính nhân sự: $13.422.</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11 / 14</a:t>
            </a:r>
            <a:endParaRPr lang="en-US" sz="900" dirty="0"/>
          </a:p>
        </p:txBody>
      </p:sp>
      <p:sp>
        <p:nvSpPr>
          <p:cNvPr id="6" name="Shape 4"/>
          <p:cNvSpPr/>
          <p:nvPr/>
        </p:nvSpPr>
        <p:spPr>
          <a:xfrm>
            <a:off x="457200" y="1188720"/>
            <a:ext cx="2651760" cy="749808"/>
          </a:xfrm>
          <a:prstGeom prst="roundRect">
            <a:avLst>
              <a:gd name="adj" fmla="val 9756"/>
            </a:avLst>
          </a:prstGeom>
          <a:solidFill>
            <a:srgbClr val="F2F6F9"/>
          </a:solidFill>
          <a:ln w="12700">
            <a:solidFill>
              <a:srgbClr val="F2F6F9"/>
            </a:solidFill>
            <a:prstDash val="solid"/>
          </a:ln>
        </p:spPr>
      </p:sp>
      <p:sp>
        <p:nvSpPr>
          <p:cNvPr id="7" name="Text 5"/>
          <p:cNvSpPr/>
          <p:nvPr/>
        </p:nvSpPr>
        <p:spPr>
          <a:xfrm>
            <a:off x="594360" y="1234440"/>
            <a:ext cx="2377440" cy="365760"/>
          </a:xfrm>
          <a:prstGeom prst="rect">
            <a:avLst/>
          </a:prstGeom>
          <a:noFill/>
          <a:ln/>
        </p:spPr>
        <p:txBody>
          <a:bodyPr wrap="square" lIns="0" tIns="0" rIns="0" bIns="0" rtlCol="0" anchor="ctr"/>
          <a:lstStyle/>
          <a:p>
            <a:pPr indent="0" marL="0">
              <a:buNone/>
            </a:pPr>
            <a:r>
              <a:rPr lang="en-US" sz="2000" b="1" dirty="0">
                <a:solidFill>
                  <a:srgbClr val="0B6E99"/>
                </a:solidFill>
                <a:latin typeface="Cambria" pitchFamily="34" charset="0"/>
                <a:ea typeface="Cambria" pitchFamily="34" charset="-122"/>
                <a:cs typeface="Cambria" pitchFamily="34" charset="-120"/>
              </a:rPr>
              <a:t>$9.695</a:t>
            </a:r>
            <a:endParaRPr lang="en-US" sz="2000" dirty="0"/>
          </a:p>
        </p:txBody>
      </p:sp>
      <p:sp>
        <p:nvSpPr>
          <p:cNvPr id="8" name="Text 6"/>
          <p:cNvSpPr/>
          <p:nvPr/>
        </p:nvSpPr>
        <p:spPr>
          <a:xfrm>
            <a:off x="594360" y="1609344"/>
            <a:ext cx="2377440" cy="256032"/>
          </a:xfrm>
          <a:prstGeom prst="rect">
            <a:avLst/>
          </a:prstGeom>
          <a:noFill/>
          <a:ln/>
        </p:spPr>
        <p:txBody>
          <a:bodyPr wrap="square" lIns="0" tIns="0" rIns="0" bIns="0" rtlCol="0" anchor="ctr"/>
          <a:lstStyle/>
          <a:p>
            <a:pPr indent="0" marL="0">
              <a:buNone/>
            </a:pPr>
            <a:r>
              <a:rPr lang="en-US" sz="1100" dirty="0">
                <a:solidFill>
                  <a:srgbClr val="586A77"/>
                </a:solidFill>
                <a:latin typeface="Calibri" pitchFamily="34" charset="0"/>
                <a:ea typeface="Calibri" pitchFamily="34" charset="-122"/>
                <a:cs typeface="Calibri" pitchFamily="34" charset="-120"/>
              </a:rPr>
              <a:t>LLM (token + ảnh) · 51,4%</a:t>
            </a:r>
            <a:endParaRPr lang="en-US" sz="1100" dirty="0"/>
          </a:p>
        </p:txBody>
      </p:sp>
      <p:sp>
        <p:nvSpPr>
          <p:cNvPr id="9" name="Shape 7"/>
          <p:cNvSpPr/>
          <p:nvPr/>
        </p:nvSpPr>
        <p:spPr>
          <a:xfrm>
            <a:off x="457200" y="2029968"/>
            <a:ext cx="2651760" cy="749808"/>
          </a:xfrm>
          <a:prstGeom prst="roundRect">
            <a:avLst>
              <a:gd name="adj" fmla="val 9756"/>
            </a:avLst>
          </a:prstGeom>
          <a:solidFill>
            <a:srgbClr val="F2F6F9"/>
          </a:solidFill>
          <a:ln w="12700">
            <a:solidFill>
              <a:srgbClr val="F2F6F9"/>
            </a:solidFill>
            <a:prstDash val="solid"/>
          </a:ln>
        </p:spPr>
      </p:sp>
      <p:sp>
        <p:nvSpPr>
          <p:cNvPr id="10" name="Text 8"/>
          <p:cNvSpPr/>
          <p:nvPr/>
        </p:nvSpPr>
        <p:spPr>
          <a:xfrm>
            <a:off x="594360" y="2075688"/>
            <a:ext cx="2377440" cy="36576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$5.450</a:t>
            </a:r>
            <a:endParaRPr lang="en-US" sz="2000" dirty="0"/>
          </a:p>
        </p:txBody>
      </p:sp>
      <p:sp>
        <p:nvSpPr>
          <p:cNvPr id="11" name="Text 9"/>
          <p:cNvSpPr/>
          <p:nvPr/>
        </p:nvSpPr>
        <p:spPr>
          <a:xfrm>
            <a:off x="594360" y="2450592"/>
            <a:ext cx="2377440" cy="256032"/>
          </a:xfrm>
          <a:prstGeom prst="rect">
            <a:avLst/>
          </a:prstGeom>
          <a:noFill/>
          <a:ln/>
        </p:spPr>
        <p:txBody>
          <a:bodyPr wrap="square" lIns="0" tIns="0" rIns="0" bIns="0" rtlCol="0" anchor="ctr"/>
          <a:lstStyle/>
          <a:p>
            <a:pPr indent="0" marL="0">
              <a:buNone/>
            </a:pPr>
            <a:r>
              <a:rPr lang="en-US" sz="1100" dirty="0">
                <a:solidFill>
                  <a:srgbClr val="586A77"/>
                </a:solidFill>
                <a:latin typeface="Calibri" pitchFamily="34" charset="0"/>
                <a:ea typeface="Calibri" pitchFamily="34" charset="-122"/>
                <a:cs typeface="Calibri" pitchFamily="34" charset="-120"/>
              </a:rPr>
              <a:t>Nhân sự vận hành · 28,9%</a:t>
            </a:r>
            <a:endParaRPr lang="en-US" sz="1100" dirty="0"/>
          </a:p>
        </p:txBody>
      </p:sp>
      <p:sp>
        <p:nvSpPr>
          <p:cNvPr id="12" name="Shape 10"/>
          <p:cNvSpPr/>
          <p:nvPr/>
        </p:nvSpPr>
        <p:spPr>
          <a:xfrm>
            <a:off x="457200" y="2871216"/>
            <a:ext cx="2651760" cy="749808"/>
          </a:xfrm>
          <a:prstGeom prst="roundRect">
            <a:avLst>
              <a:gd name="adj" fmla="val 9756"/>
            </a:avLst>
          </a:prstGeom>
          <a:solidFill>
            <a:srgbClr val="F2F6F9"/>
          </a:solidFill>
          <a:ln w="12700">
            <a:solidFill>
              <a:srgbClr val="F2F6F9"/>
            </a:solidFill>
            <a:prstDash val="solid"/>
          </a:ln>
        </p:spPr>
      </p:sp>
      <p:sp>
        <p:nvSpPr>
          <p:cNvPr id="13" name="Text 11"/>
          <p:cNvSpPr/>
          <p:nvPr/>
        </p:nvSpPr>
        <p:spPr>
          <a:xfrm>
            <a:off x="594360" y="2916936"/>
            <a:ext cx="2377440" cy="365760"/>
          </a:xfrm>
          <a:prstGeom prst="rect">
            <a:avLst/>
          </a:prstGeom>
          <a:noFill/>
          <a:ln/>
        </p:spPr>
        <p:txBody>
          <a:bodyPr wrap="square" lIns="0" tIns="0" rIns="0" bIns="0" rtlCol="0" anchor="ctr"/>
          <a:lstStyle/>
          <a:p>
            <a:pPr indent="0" marL="0">
              <a:buNone/>
            </a:pPr>
            <a:r>
              <a:rPr lang="en-US" sz="2000" b="1" dirty="0">
                <a:solidFill>
                  <a:srgbClr val="0B2536"/>
                </a:solidFill>
                <a:latin typeface="Cambria" pitchFamily="34" charset="0"/>
                <a:ea typeface="Cambria" pitchFamily="34" charset="-122"/>
                <a:cs typeface="Cambria" pitchFamily="34" charset="-120"/>
              </a:rPr>
              <a:t>$3.727</a:t>
            </a:r>
            <a:endParaRPr lang="en-US" sz="2000" dirty="0"/>
          </a:p>
        </p:txBody>
      </p:sp>
      <p:sp>
        <p:nvSpPr>
          <p:cNvPr id="14" name="Text 12"/>
          <p:cNvSpPr/>
          <p:nvPr/>
        </p:nvSpPr>
        <p:spPr>
          <a:xfrm>
            <a:off x="594360" y="3291840"/>
            <a:ext cx="2377440" cy="256032"/>
          </a:xfrm>
          <a:prstGeom prst="rect">
            <a:avLst/>
          </a:prstGeom>
          <a:noFill/>
          <a:ln/>
        </p:spPr>
        <p:txBody>
          <a:bodyPr wrap="square" lIns="0" tIns="0" rIns="0" bIns="0" rtlCol="0" anchor="ctr"/>
          <a:lstStyle/>
          <a:p>
            <a:pPr indent="0" marL="0">
              <a:buNone/>
            </a:pPr>
            <a:r>
              <a:rPr lang="en-US" sz="1100" dirty="0">
                <a:solidFill>
                  <a:srgbClr val="586A77"/>
                </a:solidFill>
                <a:latin typeface="Calibri" pitchFamily="34" charset="0"/>
                <a:ea typeface="Calibri" pitchFamily="34" charset="-122"/>
                <a:cs typeface="Calibri" pitchFamily="34" charset="-120"/>
              </a:rPr>
              <a:t>Hạ tầng còn lại · 19,7%</a:t>
            </a:r>
            <a:endParaRPr lang="en-US" sz="1100" dirty="0"/>
          </a:p>
        </p:txBody>
      </p:sp>
      <p:sp>
        <p:nvSpPr>
          <p:cNvPr id="15" name="Text 13"/>
          <p:cNvSpPr/>
          <p:nvPr/>
        </p:nvSpPr>
        <p:spPr>
          <a:xfrm>
            <a:off x="457200" y="3749040"/>
            <a:ext cx="2651760" cy="457200"/>
          </a:xfrm>
          <a:prstGeom prst="rect">
            <a:avLst/>
          </a:prstGeom>
          <a:noFill/>
          <a:ln/>
        </p:spPr>
        <p:txBody>
          <a:bodyPr wrap="square" lIns="0" tIns="0" rIns="0" bIns="0" rtlCol="0" anchor="t"/>
          <a:lstStyle/>
          <a:p>
            <a:pPr indent="0" marL="0">
              <a:buNone/>
            </a:pPr>
            <a:r>
              <a:rPr lang="en-US" sz="1050" dirty="0">
                <a:solidFill>
                  <a:srgbClr val="586A77"/>
                </a:solidFill>
                <a:latin typeface="Calibri" pitchFamily="34" charset="0"/>
                <a:ea typeface="Calibri" pitchFamily="34" charset="-122"/>
                <a:cs typeface="Calibri" pitchFamily="34" charset="-120"/>
              </a:rPr>
              <a:t>Phần A $9.812 · B $2.874 · C $6.186</a:t>
            </a:r>
            <a:endParaRPr lang="en-US" sz="1050" dirty="0"/>
          </a:p>
        </p:txBody>
      </p:sp>
      <p:sp>
        <p:nvSpPr>
          <p:cNvPr id="16" name="Text 14"/>
          <p:cNvSpPr/>
          <p:nvPr/>
        </p:nvSpPr>
        <p:spPr>
          <a:xfrm>
            <a:off x="457200" y="4224528"/>
            <a:ext cx="2651760" cy="502920"/>
          </a:xfrm>
          <a:prstGeom prst="rect">
            <a:avLst/>
          </a:prstGeom>
          <a:noFill/>
          <a:ln/>
        </p:spPr>
        <p:txBody>
          <a:bodyPr wrap="square" lIns="0" tIns="0" rIns="0" bIns="0" rtlCol="0" anchor="t"/>
          <a:lstStyle/>
          <a:p>
            <a:pPr indent="0" marL="0">
              <a:buNone/>
            </a:pPr>
            <a:r>
              <a:rPr lang="en-US" sz="1000" i="1" dirty="0">
                <a:solidFill>
                  <a:srgbClr val="586A77"/>
                </a:solidFill>
                <a:latin typeface="Calibri" pitchFamily="34" charset="0"/>
                <a:ea typeface="Calibri" pitchFamily="34" charset="-122"/>
                <a:cs typeface="Calibri" pitchFamily="34" charset="-120"/>
              </a:rPr>
              <a:t>Đơn giá từ bảng giá chính thức AWS (2026-10-16), ảnh bằng chứng chưa chụp. Khối lượng là giả định của nhóm.</a:t>
            </a:r>
            <a:endParaRPr lang="en-US" sz="1000" dirty="0"/>
          </a:p>
        </p:txBody>
      </p:sp>
      <p:graphicFrame>
        <p:nvGraphicFramePr>
          <p:cNvPr id="17" name="Chart 0" descr=""/>
          <p:cNvGraphicFramePr/>
          <p:nvPr/>
        </p:nvGraphicFramePr>
        <p:xfrm>
          <a:off x="3291840" y="1097280"/>
          <a:ext cx="5394960" cy="3611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Đòn bẩy tiết kiệm</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Phần đã áp dụng và phần còn có thể làm. Mỗi mục kèm điều kiện, vì hội đồng sẽ chất vấn giả định.</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12 / 14</a:t>
            </a:r>
            <a:endParaRPr lang="en-US" sz="900" dirty="0"/>
          </a:p>
        </p:txBody>
      </p:sp>
      <p:sp>
        <p:nvSpPr>
          <p:cNvPr id="6" name="Shape 4"/>
          <p:cNvSpPr/>
          <p:nvPr/>
        </p:nvSpPr>
        <p:spPr>
          <a:xfrm>
            <a:off x="457200" y="1188720"/>
            <a:ext cx="3200400" cy="3429000"/>
          </a:xfrm>
          <a:prstGeom prst="roundRect">
            <a:avLst>
              <a:gd name="adj" fmla="val 2286"/>
            </a:avLst>
          </a:prstGeom>
          <a:solidFill>
            <a:srgbClr val="F2F6F9"/>
          </a:solidFill>
          <a:ln w="12700">
            <a:solidFill>
              <a:srgbClr val="F2F6F9"/>
            </a:solidFill>
            <a:prstDash val="solid"/>
          </a:ln>
        </p:spPr>
      </p:sp>
      <p:sp>
        <p:nvSpPr>
          <p:cNvPr id="7" name="Text 5"/>
          <p:cNvSpPr/>
          <p:nvPr/>
        </p:nvSpPr>
        <p:spPr>
          <a:xfrm>
            <a:off x="594360" y="1261872"/>
            <a:ext cx="2926080" cy="274320"/>
          </a:xfrm>
          <a:prstGeom prst="rect">
            <a:avLst/>
          </a:prstGeom>
          <a:noFill/>
          <a:ln/>
        </p:spPr>
        <p:txBody>
          <a:bodyPr wrap="square" lIns="0" tIns="0" rIns="0" bIns="0" rtlCol="0" anchor="ctr"/>
          <a:lstStyle/>
          <a:p>
            <a:pPr indent="0" marL="0">
              <a:buNone/>
            </a:pPr>
            <a:r>
              <a:rPr lang="en-US" sz="1400" b="1" dirty="0">
                <a:solidFill>
                  <a:srgbClr val="15803D"/>
                </a:solidFill>
                <a:latin typeface="Calibri" pitchFamily="34" charset="0"/>
                <a:ea typeface="Calibri" pitchFamily="34" charset="-122"/>
                <a:cs typeface="Calibri" pitchFamily="34" charset="-120"/>
              </a:rPr>
              <a:t>Đã áp dụng</a:t>
            </a:r>
            <a:endParaRPr lang="en-US" sz="1400" dirty="0"/>
          </a:p>
        </p:txBody>
      </p:sp>
      <p:sp>
        <p:nvSpPr>
          <p:cNvPr id="8" name="Text 6"/>
          <p:cNvSpPr/>
          <p:nvPr/>
        </p:nvSpPr>
        <p:spPr>
          <a:xfrm>
            <a:off x="594360" y="1600200"/>
            <a:ext cx="2926080" cy="29718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Haiku cho cấp 2-4, có tính leo thang 10%: rẻ hơn Sonnet khoảng $5.068/tháng.</a:t>
            </a:r>
            <a:endParaRPr lang="en-US" sz="1100" dirty="0"/>
          </a:p>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Tách tỉ lệ cache ghi/đọc theo cấp: −$1.004.</a:t>
            </a:r>
            <a:endParaRPr lang="en-US" sz="1100" dirty="0"/>
          </a:p>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Ảnh cấp 5: 1 ảnh nháp, trung bình 1,1 ảnh/request: −$2.112.</a:t>
            </a:r>
            <a:endParaRPr lang="en-US" sz="1100" dirty="0"/>
          </a:p>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Cắt token ra theo cấp (thực đo −10,5%): −$850 sau khi trừ lượt hỏi lại.</a:t>
            </a:r>
            <a:endParaRPr lang="en-US" sz="1100" dirty="0"/>
          </a:p>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Vector DB gộp vào RDS pgvector; Lambda thay cho cụm sandbox chạy 24/7.</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840480" y="1188720"/>
          <a:ext cx="4846320" cy="914400"/>
        </p:xfrm>
        <a:graphic>
          <a:graphicData uri="http://schemas.openxmlformats.org/drawingml/2006/table">
            <a:tbl>
              <a:tblPr/>
              <a:tblGrid>
                <a:gridCol w="2286000"/>
                <a:gridCol w="914400"/>
                <a:gridCol w="164592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Còn có thể làm</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USD/tháng</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Điều kiện</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r>
              <a:tr h="384048">
                <a:tc>
                  <a:txBody>
                    <a:bodyPr/>
                    <a:lstStyle/>
                    <a:p>
                      <a:pPr algn="l" indent="0" marL="0">
                        <a:buNone/>
                      </a:pPr>
                      <a:r>
                        <a:rPr lang="en-US" sz="1050" dirty="0">
                          <a:solidFill>
                            <a:srgbClr val="13222D"/>
                          </a:solidFill>
                          <a:latin typeface="Calibri" pitchFamily="34" charset="0"/>
                          <a:ea typeface="Calibri" pitchFamily="34" charset="-122"/>
                          <a:cs typeface="Calibri" pitchFamily="34" charset="-120"/>
                        </a:rPr>
                        <a:t>Cache cấp 4 đọc 85%, ghi 15%</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5803D"/>
                          </a:solidFill>
                          <a:latin typeface="Calibri" pitchFamily="34" charset="0"/>
                          <a:ea typeface="Calibri" pitchFamily="34" charset="-122"/>
                          <a:cs typeface="Calibri" pitchFamily="34" charset="-120"/>
                        </a:rPr>
                        <a:t>−671</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22D"/>
                          </a:solidFill>
                          <a:latin typeface="Calibri" pitchFamily="34" charset="0"/>
                          <a:ea typeface="Calibri" pitchFamily="34" charset="-122"/>
                          <a:cs typeface="Calibri" pitchFamily="34" charset="-120"/>
                        </a:rPr>
                        <a:t>Phải đo hit rate thật</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3222D"/>
                          </a:solidFill>
                          <a:latin typeface="Calibri" pitchFamily="34" charset="0"/>
                          <a:ea typeface="Calibri" pitchFamily="34" charset="-122"/>
                          <a:cs typeface="Calibri" pitchFamily="34" charset="-120"/>
                        </a:rPr>
                        <a:t>Guardrails chỉ cho nội dung trước hành động ghi</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b="1" dirty="0">
                          <a:solidFill>
                            <a:srgbClr val="15803D"/>
                          </a:solidFill>
                          <a:latin typeface="Calibri" pitchFamily="34" charset="0"/>
                          <a:ea typeface="Calibri" pitchFamily="34" charset="-122"/>
                          <a:cs typeface="Calibri" pitchFamily="34" charset="-120"/>
                        </a:rPr>
                        <a:t>−240 đến −320</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l" indent="0" marL="0">
                        <a:buNone/>
                      </a:pPr>
                      <a:r>
                        <a:rPr lang="en-US" sz="1050" dirty="0">
                          <a:solidFill>
                            <a:srgbClr val="13222D"/>
                          </a:solidFill>
                          <a:latin typeface="Calibri" pitchFamily="34" charset="0"/>
                          <a:ea typeface="Calibri" pitchFamily="34" charset="-122"/>
                          <a:cs typeface="Calibri" pitchFamily="34" charset="-120"/>
                        </a:rPr>
                        <a:t>Giảm phạm vi H4</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384048">
                <a:tc>
                  <a:txBody>
                    <a:bodyPr/>
                    <a:lstStyle/>
                    <a:p>
                      <a:pPr algn="l" indent="0" marL="0">
                        <a:buNone/>
                      </a:pPr>
                      <a:r>
                        <a:rPr lang="en-US" sz="1050" dirty="0">
                          <a:solidFill>
                            <a:srgbClr val="13222D"/>
                          </a:solidFill>
                          <a:latin typeface="Calibri" pitchFamily="34" charset="0"/>
                          <a:ea typeface="Calibri" pitchFamily="34" charset="-122"/>
                          <a:cs typeface="Calibri" pitchFamily="34" charset="-120"/>
                        </a:rPr>
                        <a:t>Ghi cache giảm một nửa</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5803D"/>
                          </a:solidFill>
                          <a:latin typeface="Calibri" pitchFamily="34" charset="0"/>
                          <a:ea typeface="Calibri" pitchFamily="34" charset="-122"/>
                          <a:cs typeface="Calibri" pitchFamily="34" charset="-120"/>
                        </a:rPr>
                        <a:t>−265</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22D"/>
                          </a:solidFill>
                          <a:latin typeface="Calibri" pitchFamily="34" charset="0"/>
                          <a:ea typeface="Calibri" pitchFamily="34" charset="-122"/>
                          <a:cs typeface="Calibri" pitchFamily="34" charset="-120"/>
                        </a:rPr>
                        <a:t>Phụ thuộc tái sử dụng</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3222D"/>
                          </a:solidFill>
                          <a:latin typeface="Calibri" pitchFamily="34" charset="0"/>
                          <a:ea typeface="Calibri" pitchFamily="34" charset="-122"/>
                          <a:cs typeface="Calibri" pitchFamily="34" charset="-120"/>
                        </a:rPr>
                        <a:t>Sandbox 3 GB → 2 GB</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b="1" dirty="0">
                          <a:solidFill>
                            <a:srgbClr val="15803D"/>
                          </a:solidFill>
                          <a:latin typeface="Calibri" pitchFamily="34" charset="0"/>
                          <a:ea typeface="Calibri" pitchFamily="34" charset="-122"/>
                          <a:cs typeface="Calibri" pitchFamily="34" charset="-120"/>
                        </a:rPr>
                        <a:t>~−173</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l" indent="0" marL="0">
                        <a:buNone/>
                      </a:pPr>
                      <a:r>
                        <a:rPr lang="en-US" sz="1050" dirty="0">
                          <a:solidFill>
                            <a:srgbClr val="13222D"/>
                          </a:solidFill>
                          <a:latin typeface="Calibri" pitchFamily="34" charset="0"/>
                          <a:ea typeface="Calibri" pitchFamily="34" charset="-122"/>
                          <a:cs typeface="Calibri" pitchFamily="34" charset="-120"/>
                        </a:rPr>
                        <a:t>Cần đo thời gian chạy</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bl>
          </a:graphicData>
        </a:graphic>
      </p:graphicFrame>
      <p:sp>
        <p:nvSpPr>
          <p:cNvPr id="10" name="Text 7"/>
          <p:cNvSpPr/>
          <p:nvPr/>
        </p:nvSpPr>
        <p:spPr>
          <a:xfrm>
            <a:off x="3840480" y="4114800"/>
            <a:ext cx="4846320" cy="457200"/>
          </a:xfrm>
          <a:prstGeom prst="rect">
            <a:avLst/>
          </a:prstGeom>
          <a:noFill/>
          <a:ln/>
        </p:spPr>
        <p:txBody>
          <a:bodyPr wrap="square" lIns="0" tIns="0" rIns="0" bIns="0" rtlCol="0" anchor="t"/>
          <a:lstStyle/>
          <a:p>
            <a:pPr indent="0" marL="0">
              <a:buNone/>
            </a:pPr>
            <a:r>
              <a:rPr lang="en-US" sz="1200" b="1" dirty="0">
                <a:solidFill>
                  <a:srgbClr val="B45309"/>
                </a:solidFill>
                <a:latin typeface="Calibri" pitchFamily="34" charset="0"/>
                <a:ea typeface="Calibri" pitchFamily="34" charset="-122"/>
                <a:cs typeface="Calibri" pitchFamily="34" charset="-120"/>
              </a:rPr>
              <a:t>Sau các quyết định chốt: $20.987 → $18.872 mỗi tháng.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Rủi ro và mở rộng</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Rủi ro lớn nhất nằm ở những chỗ chưa đo, không phải ở hạ tầng.</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13 / 14</a:t>
            </a:r>
            <a:endParaRPr lang="en-US" sz="900" dirty="0"/>
          </a:p>
        </p:txBody>
      </p:sp>
      <p:sp>
        <p:nvSpPr>
          <p:cNvPr id="6" name="Shape 4"/>
          <p:cNvSpPr/>
          <p:nvPr/>
        </p:nvSpPr>
        <p:spPr>
          <a:xfrm>
            <a:off x="457200" y="1188720"/>
            <a:ext cx="4023360" cy="3474720"/>
          </a:xfrm>
          <a:prstGeom prst="roundRect">
            <a:avLst>
              <a:gd name="adj" fmla="val 2105"/>
            </a:avLst>
          </a:prstGeom>
          <a:solidFill>
            <a:srgbClr val="F2F6F9"/>
          </a:solidFill>
          <a:ln w="12700">
            <a:solidFill>
              <a:srgbClr val="F2F6F9"/>
            </a:solidFill>
            <a:prstDash val="solid"/>
          </a:ln>
        </p:spPr>
      </p:sp>
      <p:sp>
        <p:nvSpPr>
          <p:cNvPr id="7" name="Text 5"/>
          <p:cNvSpPr/>
          <p:nvPr/>
        </p:nvSpPr>
        <p:spPr>
          <a:xfrm>
            <a:off x="594360" y="1261872"/>
            <a:ext cx="3749040" cy="274320"/>
          </a:xfrm>
          <a:prstGeom prst="rect">
            <a:avLst/>
          </a:prstGeom>
          <a:noFill/>
          <a:ln/>
        </p:spPr>
        <p:txBody>
          <a:bodyPr wrap="square" lIns="0" tIns="0" rIns="0" bIns="0" rtlCol="0" anchor="ctr"/>
          <a:lstStyle/>
          <a:p>
            <a:pPr indent="0" marL="0">
              <a:buNone/>
            </a:pPr>
            <a:r>
              <a:rPr lang="en-US" sz="1400" b="1" dirty="0">
                <a:solidFill>
                  <a:srgbClr val="B42318"/>
                </a:solidFill>
                <a:latin typeface="Calibri" pitchFamily="34" charset="0"/>
                <a:ea typeface="Calibri" pitchFamily="34" charset="-122"/>
                <a:cs typeface="Calibri" pitchFamily="34" charset="-120"/>
              </a:rPr>
              <a:t>Rủi ro lớn nhất</a:t>
            </a:r>
            <a:endParaRPr lang="en-US" sz="1400" dirty="0"/>
          </a:p>
        </p:txBody>
      </p:sp>
      <p:sp>
        <p:nvSpPr>
          <p:cNvPr id="8" name="Text 6"/>
          <p:cNvSpPr/>
          <p:nvPr/>
        </p:nvSpPr>
        <p:spPr>
          <a:xfrm>
            <a:off x="594360" y="1600200"/>
            <a:ext cx="3749040" cy="30175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H8: Haiku cho cấp 2-4 chưa đo ≥ 95%. Lùi về Sonnet nhiều hơn: +$5.068.</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H1: đã chốt giữ hồ sơ Bedrock global (cùng một cloud AWS, không lưu dữ liệu). Guardrails dùng cross-Region và ảnh gọi ở us-west-2, nên có thể bị chất vấn về nơi xử lý.</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H6: p95 token đầu dưới 3 giây mới là ước lượng; quota Bedrock lúc burst chưa kiểm.</a:t>
            </a:r>
            <a:endParaRPr lang="en-US" sz="1150" dirty="0"/>
          </a:p>
          <a:p>
            <a:pPr marL="342900" indent="-342900">
              <a:spcAft>
                <a:spcPts val="400"/>
              </a:spcAft>
              <a:buSzPct val="100000"/>
              <a:buChar char="•"/>
            </a:pPr>
            <a:r>
              <a:rPr lang="en-US" sz="1150" dirty="0">
                <a:solidFill>
                  <a:srgbClr val="13222D"/>
                </a:solidFill>
                <a:latin typeface="Calibri" pitchFamily="34" charset="0"/>
                <a:ea typeface="Calibri" pitchFamily="34" charset="-122"/>
                <a:cs typeface="Calibri" pitchFamily="34" charset="-120"/>
              </a:rPr>
              <a:t>Bằng chứng: 66 mã ảnh chưa chụp; 36 chỗ đơn giá Singapore chỉ thấy trong bảng giá JSON, chưa thấy trên trang.</a:t>
            </a:r>
            <a:endParaRPr lang="en-US" sz="1150" dirty="0"/>
          </a:p>
        </p:txBody>
      </p:sp>
      <p:sp>
        <p:nvSpPr>
          <p:cNvPr id="9" name="Shape 7"/>
          <p:cNvSpPr/>
          <p:nvPr/>
        </p:nvSpPr>
        <p:spPr>
          <a:xfrm>
            <a:off x="4663440" y="1188720"/>
            <a:ext cx="4023360" cy="1737360"/>
          </a:xfrm>
          <a:prstGeom prst="roundRect">
            <a:avLst>
              <a:gd name="adj" fmla="val 4211"/>
            </a:avLst>
          </a:prstGeom>
          <a:solidFill>
            <a:srgbClr val="F2F6F9"/>
          </a:solidFill>
          <a:ln w="12700">
            <a:solidFill>
              <a:srgbClr val="F2F6F9"/>
            </a:solidFill>
            <a:prstDash val="solid"/>
          </a:ln>
        </p:spPr>
      </p:sp>
      <p:sp>
        <p:nvSpPr>
          <p:cNvPr id="10" name="Text 8"/>
          <p:cNvSpPr/>
          <p:nvPr/>
        </p:nvSpPr>
        <p:spPr>
          <a:xfrm>
            <a:off x="4800600" y="1261872"/>
            <a:ext cx="3749040" cy="274320"/>
          </a:xfrm>
          <a:prstGeom prst="rect">
            <a:avLst/>
          </a:prstGeom>
          <a:noFill/>
          <a:ln/>
        </p:spPr>
        <p:txBody>
          <a:bodyPr wrap="square" lIns="0" tIns="0" rIns="0" bIns="0" rtlCol="0" anchor="ctr"/>
          <a:lstStyle/>
          <a:p>
            <a:pPr indent="0" marL="0">
              <a:buNone/>
            </a:pPr>
            <a:r>
              <a:rPr lang="en-US" sz="1400" b="1" dirty="0">
                <a:solidFill>
                  <a:srgbClr val="0B2536"/>
                </a:solidFill>
                <a:latin typeface="Calibri" pitchFamily="34" charset="0"/>
                <a:ea typeface="Calibri" pitchFamily="34" charset="-122"/>
                <a:cs typeface="Calibri" pitchFamily="34" charset="-120"/>
              </a:rPr>
              <a:t>Nếu DAU gấp đôi (4.000)</a:t>
            </a:r>
            <a:endParaRPr lang="en-US" sz="1400" dirty="0"/>
          </a:p>
        </p:txBody>
      </p:sp>
      <p:sp>
        <p:nvSpPr>
          <p:cNvPr id="11" name="Text 9"/>
          <p:cNvSpPr/>
          <p:nvPr/>
        </p:nvSpPr>
        <p:spPr>
          <a:xfrm>
            <a:off x="4800600" y="1600200"/>
            <a:ext cx="3749040" cy="1280160"/>
          </a:xfrm>
          <a:prstGeom prst="rect">
            <a:avLst/>
          </a:prstGeom>
          <a:noFill/>
          <a:ln/>
        </p:spPr>
        <p:txBody>
          <a:bodyPr wrap="square" lIns="0" tIns="0" rIns="0" bIns="0" rtlCol="0" anchor="t"/>
          <a:lstStyle/>
          <a:p>
            <a:pPr indent="0" marL="0">
              <a:buNone/>
            </a:pPr>
            <a:r>
              <a:rPr lang="en-US" sz="1200" b="1" dirty="0">
                <a:solidFill>
                  <a:srgbClr val="B45309"/>
                </a:solidFill>
                <a:latin typeface="Calibri" pitchFamily="34" charset="0"/>
                <a:ea typeface="Calibri" pitchFamily="34" charset="-122"/>
                <a:cs typeface="Calibri" pitchFamily="34" charset="-120"/>
              </a:rPr>
              <a:t>Ước tính ~$31.400/tháng (+67%).</a:t>
            </a:r>
            <a:endParaRPr lang="en-US" sz="1200" dirty="0"/>
          </a:p>
          <a:p>
            <a:pPr indent="0" marL="0">
              <a:buNone/>
            </a:pPr>
            <a:r>
              <a:rPr lang="en-US" sz="1100" dirty="0">
                <a:solidFill>
                  <a:srgbClr val="13222D"/>
                </a:solidFill>
                <a:latin typeface="Calibri" pitchFamily="34" charset="0"/>
                <a:ea typeface="Calibri" pitchFamily="34" charset="-122"/>
                <a:cs typeface="Calibri" pitchFamily="34" charset="-120"/>
              </a:rPr>
              <a:t>Phần tăng theo tải (LLM, sandbox, Guardrails, lưu trữ, ~$11.500) nhân đôi; phần cố định (nhân sự, ALB, NAT, DB, ~$7.400) tăng khoảng 15%. Ước tính của nhóm, chưa tính lại quota.</a:t>
            </a:r>
            <a:endParaRPr lang="en-US" sz="1200" dirty="0"/>
          </a:p>
        </p:txBody>
      </p:sp>
      <p:sp>
        <p:nvSpPr>
          <p:cNvPr id="12" name="Shape 10"/>
          <p:cNvSpPr/>
          <p:nvPr/>
        </p:nvSpPr>
        <p:spPr>
          <a:xfrm>
            <a:off x="4663440" y="3063240"/>
            <a:ext cx="4023360" cy="1600200"/>
          </a:xfrm>
          <a:prstGeom prst="roundRect">
            <a:avLst>
              <a:gd name="adj" fmla="val 4571"/>
            </a:avLst>
          </a:prstGeom>
          <a:solidFill>
            <a:srgbClr val="F2F6F9"/>
          </a:solidFill>
          <a:ln w="12700">
            <a:solidFill>
              <a:srgbClr val="F2F6F9"/>
            </a:solidFill>
            <a:prstDash val="solid"/>
          </a:ln>
        </p:spPr>
      </p:sp>
      <p:sp>
        <p:nvSpPr>
          <p:cNvPr id="13" name="Text 11"/>
          <p:cNvSpPr/>
          <p:nvPr/>
        </p:nvSpPr>
        <p:spPr>
          <a:xfrm>
            <a:off x="4800600" y="3136392"/>
            <a:ext cx="3749040" cy="274320"/>
          </a:xfrm>
          <a:prstGeom prst="rect">
            <a:avLst/>
          </a:prstGeom>
          <a:noFill/>
          <a:ln/>
        </p:spPr>
        <p:txBody>
          <a:bodyPr wrap="square" lIns="0" tIns="0" rIns="0" bIns="0" rtlCol="0" anchor="ctr"/>
          <a:lstStyle/>
          <a:p>
            <a:pPr indent="0" marL="0">
              <a:buNone/>
            </a:pPr>
            <a:r>
              <a:rPr lang="en-US" sz="1400" b="1" dirty="0">
                <a:solidFill>
                  <a:srgbClr val="0B2536"/>
                </a:solidFill>
                <a:latin typeface="Calibri" pitchFamily="34" charset="0"/>
                <a:ea typeface="Calibri" pitchFamily="34" charset="-122"/>
                <a:cs typeface="Calibri" pitchFamily="34" charset="-120"/>
              </a:rPr>
              <a:t>Độ nhạy khác</a:t>
            </a:r>
            <a:endParaRPr lang="en-US" sz="1400" dirty="0"/>
          </a:p>
        </p:txBody>
      </p:sp>
      <p:sp>
        <p:nvSpPr>
          <p:cNvPr id="14" name="Text 12"/>
          <p:cNvSpPr/>
          <p:nvPr/>
        </p:nvSpPr>
        <p:spPr>
          <a:xfrm>
            <a:off x="4800600" y="3456432"/>
            <a:ext cx="3749040" cy="11430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Giá LLM ±30%: khoảng ±$2.900</a:t>
            </a:r>
            <a:endParaRPr lang="en-US" sz="1100" dirty="0"/>
          </a:p>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Leo thang Haiku → Sonnet 30% thay vì 10%: +$1.971</a:t>
            </a:r>
            <a:endParaRPr lang="en-US" sz="1100" dirty="0"/>
          </a:p>
          <a:p>
            <a:pPr marL="342900" indent="-342900">
              <a:spcAft>
                <a:spcPts val="400"/>
              </a:spcAft>
              <a:buSzPct val="100000"/>
              <a:buChar char="•"/>
            </a:pPr>
            <a:r>
              <a:rPr lang="en-US" sz="1100" dirty="0">
                <a:solidFill>
                  <a:srgbClr val="13222D"/>
                </a:solidFill>
                <a:latin typeface="Calibri" pitchFamily="34" charset="0"/>
                <a:ea typeface="Calibri" pitchFamily="34" charset="-122"/>
                <a:cs typeface="Calibri" pitchFamily="34" charset="-120"/>
              </a:rPr>
              <a:t>Hit rate cache thấp hơn 10 điểm: +$952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t"/>
          <a:lstStyle/>
          <a:p>
            <a:pPr indent="0" marL="0">
              <a:buNone/>
            </a:pPr>
            <a:r>
              <a:rPr lang="en-US" sz="2600" b="1" dirty="0">
                <a:solidFill>
                  <a:srgbClr val="0B2536"/>
                </a:solidFill>
                <a:latin typeface="Cambria" pitchFamily="34" charset="0"/>
                <a:ea typeface="Cambria" pitchFamily="34" charset="-122"/>
                <a:cs typeface="Cambria" pitchFamily="34" charset="-120"/>
              </a:rPr>
              <a:t>Đối chiếu ràng buộc cứng và việc còn lại</a:t>
            </a:r>
            <a:endParaRPr lang="en-US" sz="2600" dirty="0"/>
          </a:p>
        </p:txBody>
      </p:sp>
      <p:sp>
        <p:nvSpPr>
          <p:cNvPr id="3" name="Text 1"/>
          <p:cNvSpPr/>
          <p:nvPr/>
        </p:nvSpPr>
        <p:spPr>
          <a:xfrm>
            <a:off x="457200" y="786384"/>
            <a:ext cx="8229600" cy="274320"/>
          </a:xfrm>
          <a:prstGeom prst="rect">
            <a:avLst/>
          </a:prstGeom>
          <a:noFill/>
          <a:ln/>
        </p:spPr>
        <p:txBody>
          <a:bodyPr wrap="square" lIns="0" tIns="0" rIns="0" bIns="0" rtlCol="0" anchor="t"/>
          <a:lstStyle/>
          <a:p>
            <a:pPr indent="0" marL="0">
              <a:buNone/>
            </a:pPr>
            <a:r>
              <a:rPr lang="en-US" sz="1300" dirty="0">
                <a:solidFill>
                  <a:srgbClr val="586A77"/>
                </a:solidFill>
                <a:latin typeface="Calibri" pitchFamily="34" charset="0"/>
                <a:ea typeface="Calibri" pitchFamily="34" charset="-122"/>
                <a:cs typeface="Calibri" pitchFamily="34" charset="-120"/>
              </a:rPr>
              <a:t>Đạt trên giấy chưa phải đã chứng minh. Màu cho biết mức độ.</a:t>
            </a:r>
            <a:endParaRPr lang="en-US" sz="1300" dirty="0"/>
          </a:p>
        </p:txBody>
      </p:sp>
      <p:sp>
        <p:nvSpPr>
          <p:cNvPr id="4" name="Text 2"/>
          <p:cNvSpPr/>
          <p:nvPr/>
        </p:nvSpPr>
        <p:spPr>
          <a:xfrm>
            <a:off x="457200" y="4846320"/>
            <a:ext cx="4572000" cy="201168"/>
          </a:xfrm>
          <a:prstGeom prst="rect">
            <a:avLst/>
          </a:prstGeom>
          <a:noFill/>
          <a:ln/>
        </p:spPr>
        <p:txBody>
          <a:bodyPr wrap="square" lIns="0" tIns="0" rIns="0" bIns="0" rtlCol="0" anchor="ctr"/>
          <a:lstStyle/>
          <a:p>
            <a:pPr indent="0" marL="0">
              <a:buNone/>
            </a:pPr>
            <a:r>
              <a:rPr lang="en-US" sz="900" dirty="0">
                <a:solidFill>
                  <a:srgbClr val="586A77"/>
                </a:solidFill>
                <a:latin typeface="Calibri" pitchFamily="34" charset="0"/>
                <a:ea typeface="Calibri" pitchFamily="34" charset="-122"/>
                <a:cs typeface="Calibri" pitchFamily="34" charset="-120"/>
              </a:rPr>
              <a:t>VBot Workplace · Production Capstone</a:t>
            </a:r>
            <a:endParaRPr lang="en-US" sz="900" dirty="0"/>
          </a:p>
        </p:txBody>
      </p:sp>
      <p:sp>
        <p:nvSpPr>
          <p:cNvPr id="5" name="Text 3"/>
          <p:cNvSpPr/>
          <p:nvPr/>
        </p:nvSpPr>
        <p:spPr>
          <a:xfrm>
            <a:off x="7772400" y="4846320"/>
            <a:ext cx="914400" cy="201168"/>
          </a:xfrm>
          <a:prstGeom prst="rect">
            <a:avLst/>
          </a:prstGeom>
          <a:noFill/>
          <a:ln/>
        </p:spPr>
        <p:txBody>
          <a:bodyPr wrap="square" lIns="0" tIns="0" rIns="0" bIns="0" rtlCol="0" anchor="ctr"/>
          <a:lstStyle/>
          <a:p>
            <a:pPr algn="r" indent="0" marL="0">
              <a:buNone/>
            </a:pPr>
            <a:r>
              <a:rPr lang="en-US" sz="900" dirty="0">
                <a:solidFill>
                  <a:srgbClr val="586A77"/>
                </a:solidFill>
                <a:latin typeface="Calibri" pitchFamily="34" charset="0"/>
                <a:ea typeface="Calibri" pitchFamily="34" charset="-122"/>
                <a:cs typeface="Calibri" pitchFamily="34" charset="-120"/>
              </a:rPr>
              <a:t>14 / 14</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1554480"/>
                <a:gridCol w="5120640"/>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Ràng buộc</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Trạng thái</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Ghi chú</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r>
              <a:tr h="301752">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H1 Cloud</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946200"/>
                          </a:solidFill>
                          <a:latin typeface="Calibri" pitchFamily="34" charset="0"/>
                          <a:ea typeface="Calibri" pitchFamily="34" charset="-122"/>
                          <a:cs typeface="Calibri" pitchFamily="34" charset="-120"/>
                        </a:rPr>
                        <a:t>Chưa chứng minh</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050" dirty="0">
                          <a:solidFill>
                            <a:srgbClr val="13222D"/>
                          </a:solidFill>
                          <a:latin typeface="Calibri" pitchFamily="34" charset="0"/>
                          <a:ea typeface="Calibri" pitchFamily="34" charset="-122"/>
                          <a:cs typeface="Calibri" pitchFamily="34" charset="-120"/>
                        </a:rPr>
                        <a:t>Đã chốt: AWS, hồ sơ global, không lưu dữ liệu; có thể bị hỏi về nơi xử lý</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H2 Định danh</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b="1" dirty="0">
                          <a:solidFill>
                            <a:srgbClr val="15803D"/>
                          </a:solidFill>
                          <a:latin typeface="Calibri" pitchFamily="34" charset="0"/>
                          <a:ea typeface="Calibri" pitchFamily="34" charset="-122"/>
                          <a:cs typeface="Calibri" pitchFamily="34" charset="-120"/>
                        </a:rPr>
                        <a:t>Đạt trên giấy</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050" dirty="0">
                          <a:solidFill>
                            <a:srgbClr val="13222D"/>
                          </a:solidFill>
                          <a:latin typeface="Calibri" pitchFamily="34" charset="0"/>
                          <a:ea typeface="Calibri" pitchFamily="34" charset="-122"/>
                          <a:cs typeface="Calibri" pitchFamily="34" charset="-120"/>
                        </a:rPr>
                        <a:t>Cognito SAML/OIDC, MFA, OAuth ủy nhiệm, token KMS</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301752">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H3 Sandbox</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Calibri" pitchFamily="34" charset="0"/>
                          <a:ea typeface="Calibri" pitchFamily="34" charset="-122"/>
                          <a:cs typeface="Calibri" pitchFamily="34" charset="-120"/>
                        </a:rPr>
                        <a:t>Đạt trên giấy</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050" dirty="0">
                          <a:solidFill>
                            <a:srgbClr val="13222D"/>
                          </a:solidFill>
                          <a:latin typeface="Calibri" pitchFamily="34" charset="0"/>
                          <a:ea typeface="Calibri" pitchFamily="34" charset="-122"/>
                          <a:cs typeface="Calibri" pitchFamily="34" charset="-120"/>
                        </a:rPr>
                        <a:t>Lambda microVM, không egress; chưa kiểm metadata và recall RLS</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H4 Governance</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b="1" dirty="0">
                          <a:solidFill>
                            <a:srgbClr val="15803D"/>
                          </a:solidFill>
                          <a:latin typeface="Calibri" pitchFamily="34" charset="0"/>
                          <a:ea typeface="Calibri" pitchFamily="34" charset="-122"/>
                          <a:cs typeface="Calibri" pitchFamily="34" charset="-120"/>
                        </a:rPr>
                        <a:t>Đạt trên giấy</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050" dirty="0">
                          <a:solidFill>
                            <a:srgbClr val="13222D"/>
                          </a:solidFill>
                          <a:latin typeface="Calibri" pitchFamily="34" charset="0"/>
                          <a:ea typeface="Calibri" pitchFamily="34" charset="-122"/>
                          <a:cs typeface="Calibri" pitchFamily="34" charset="-120"/>
                        </a:rPr>
                        <a:t>Guardrails, xác nhận trước khi ghi; eval gate chưa đo</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301752">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H5 Data</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Calibri" pitchFamily="34" charset="0"/>
                          <a:ea typeface="Calibri" pitchFamily="34" charset="-122"/>
                          <a:cs typeface="Calibri" pitchFamily="34" charset="-120"/>
                        </a:rPr>
                        <a:t>Đạt trên giấy</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050" dirty="0">
                          <a:solidFill>
                            <a:srgbClr val="13222D"/>
                          </a:solidFill>
                          <a:latin typeface="Calibri" pitchFamily="34" charset="0"/>
                          <a:ea typeface="Calibri" pitchFamily="34" charset="-122"/>
                          <a:cs typeface="Calibri" pitchFamily="34" charset="-120"/>
                        </a:rPr>
                        <a:t>SSE-KMS, Presidio, audit 12 tháng; chính sách lưu và phân loại đã chốt</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H6 Độ trễ</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b="1" dirty="0">
                          <a:solidFill>
                            <a:srgbClr val="946200"/>
                          </a:solidFill>
                          <a:latin typeface="Calibri" pitchFamily="34" charset="0"/>
                          <a:ea typeface="Calibri" pitchFamily="34" charset="-122"/>
                          <a:cs typeface="Calibri" pitchFamily="34" charset="-120"/>
                        </a:rPr>
                        <a:t>Chưa chứng minh</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050" dirty="0">
                          <a:solidFill>
                            <a:srgbClr val="13222D"/>
                          </a:solidFill>
                          <a:latin typeface="Calibri" pitchFamily="34" charset="0"/>
                          <a:ea typeface="Calibri" pitchFamily="34" charset="-122"/>
                          <a:cs typeface="Calibri" pitchFamily="34" charset="-120"/>
                        </a:rPr>
                        <a:t>p95 &lt; 3 giây mới là ước lượng</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301752">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H7 HA/DR</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100" b="1" dirty="0">
                          <a:solidFill>
                            <a:srgbClr val="15803D"/>
                          </a:solidFill>
                          <a:latin typeface="Calibri" pitchFamily="34" charset="0"/>
                          <a:ea typeface="Calibri" pitchFamily="34" charset="-122"/>
                          <a:cs typeface="Calibri" pitchFamily="34" charset="-120"/>
                        </a:rPr>
                        <a:t>Đạt trên giấy</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indent="0" marL="0">
                        <a:buNone/>
                      </a:pPr>
                      <a:r>
                        <a:rPr lang="en-US" sz="1050" dirty="0">
                          <a:solidFill>
                            <a:srgbClr val="13222D"/>
                          </a:solidFill>
                          <a:latin typeface="Calibri" pitchFamily="34" charset="0"/>
                          <a:ea typeface="Calibri" pitchFamily="34" charset="-122"/>
                          <a:cs typeface="Calibri" pitchFamily="34" charset="-120"/>
                        </a:rPr>
                        <a:t>Không SPOF; RTO 3-4 giờ, RPO &lt; 1 giờ chưa diễn tập</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3222D"/>
                          </a:solidFill>
                          <a:latin typeface="Calibri" pitchFamily="34" charset="0"/>
                          <a:ea typeface="Calibri" pitchFamily="34" charset="-122"/>
                          <a:cs typeface="Calibri" pitchFamily="34" charset="-120"/>
                        </a:rPr>
                        <a:t>H8 Chất lượng</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100" b="1" dirty="0">
                          <a:solidFill>
                            <a:srgbClr val="B42318"/>
                          </a:solidFill>
                          <a:latin typeface="Calibri" pitchFamily="34" charset="0"/>
                          <a:ea typeface="Calibri" pitchFamily="34" charset="-122"/>
                          <a:cs typeface="Calibri" pitchFamily="34" charset="-120"/>
                        </a:rPr>
                        <a:t>Rủi ro</a:t>
                      </a:r>
                      <a:endParaRPr lang="en-US" sz="110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indent="0" marL="0">
                        <a:buNone/>
                      </a:pPr>
                      <a:r>
                        <a:rPr lang="en-US" sz="1050" dirty="0">
                          <a:solidFill>
                            <a:srgbClr val="13222D"/>
                          </a:solidFill>
                          <a:latin typeface="Calibri" pitchFamily="34" charset="0"/>
                          <a:ea typeface="Calibri" pitchFamily="34" charset="-122"/>
                          <a:cs typeface="Calibri" pitchFamily="34" charset="-120"/>
                        </a:rPr>
                        <a:t>Chưa đo Haiku ≥ 95%; quota theo người chưa có số</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bl>
          </a:graphicData>
        </a:graphic>
      </p:graphicFrame>
      <p:sp>
        <p:nvSpPr>
          <p:cNvPr id="7" name="Shape 4"/>
          <p:cNvSpPr/>
          <p:nvPr/>
        </p:nvSpPr>
        <p:spPr>
          <a:xfrm>
            <a:off x="457200" y="4069080"/>
            <a:ext cx="8229600" cy="640080"/>
          </a:xfrm>
          <a:prstGeom prst="roundRect">
            <a:avLst>
              <a:gd name="adj" fmla="val 11429"/>
            </a:avLst>
          </a:prstGeom>
          <a:solidFill>
            <a:srgbClr val="FBEBD6"/>
          </a:solidFill>
          <a:ln w="12700">
            <a:solidFill>
              <a:srgbClr val="FBEBD6"/>
            </a:solidFill>
            <a:prstDash val="solid"/>
          </a:ln>
        </p:spPr>
      </p:sp>
      <p:sp>
        <p:nvSpPr>
          <p:cNvPr id="8" name="Text 5"/>
          <p:cNvSpPr/>
          <p:nvPr/>
        </p:nvSpPr>
        <p:spPr>
          <a:xfrm>
            <a:off x="594360" y="4114800"/>
            <a:ext cx="7955280" cy="54864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Đã chốt 7 câu hỏi mở. Còn phải làm: chụp 66 ảnh bằng chứng · đo H6 và H8 · tập bảo vệ 7 phút.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indent="0" marL="0">
              <a:buNone/>
            </a:pPr>
            <a:r>
              <a:rPr lang="en-US" sz="2400" b="1" dirty="0">
                <a:solidFill>
                  <a:srgbClr val="0B2536"/>
                </a:solidFill>
                <a:latin typeface="Cambria" pitchFamily="34" charset="0"/>
                <a:ea typeface="Cambria" pitchFamily="34" charset="-122"/>
                <a:cs typeface="Cambria" pitchFamily="34" charset="-120"/>
              </a:rPr>
              <a:t>Phụ lục: báo giá theo component</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4023360" cy="914400"/>
        </p:xfrm>
        <a:graphic>
          <a:graphicData uri="http://schemas.openxmlformats.org/drawingml/2006/table">
            <a:tbl>
              <a:tblPr/>
              <a:tblGrid>
                <a:gridCol w="2377440"/>
                <a:gridCol w="164592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Component</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USD/tháng</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llm</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9.694,99</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ops_labor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5.450,00</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database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951,83</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governance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881,40</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sandbox</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689,51</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network</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221,24</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compute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191,24</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backup_dr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172,83</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object_storage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131,07</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gateway</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93,66</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cache_queue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88,09</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4663440" y="914400"/>
          <a:ext cx="4023360" cy="914400"/>
        </p:xfrm>
        <a:graphic>
          <a:graphicData uri="http://schemas.openxmlformats.org/drawingml/2006/table">
            <a:tbl>
              <a:tblPr/>
              <a:tblGrid>
                <a:gridCol w="2377440"/>
                <a:gridCol w="164592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Component</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USD/tháng</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0B2536"/>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monitoring</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45,16</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load_balancer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42,00</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connectors</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41,40</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secrets_kms</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37,70</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contingency</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35,05</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authn</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30,45</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embedding</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23,33</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authz</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22,50</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cicd</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16,50</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licenses</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12,00</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2F6F9"/>
                    </a:solidFill>
                  </a:tcPr>
                </a:tc>
              </a:tr>
              <a:tr h="274320">
                <a:tc>
                  <a:txBody>
                    <a:bodyPr/>
                    <a:lstStyle/>
                    <a:p>
                      <a:pPr indent="0" marL="0">
                        <a:buNone/>
                      </a:pPr>
                      <a:r>
                        <a:rPr lang="en-US" sz="1000" dirty="0">
                          <a:solidFill>
                            <a:srgbClr val="13222D"/>
                          </a:solidFill>
                          <a:latin typeface="Courier New" pitchFamily="34" charset="0"/>
                          <a:ea typeface="Courier New" pitchFamily="34" charset="-122"/>
                          <a:cs typeface="Courier New" pitchFamily="34" charset="-120"/>
                        </a:rPr>
                        <a:t>vector_db</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3222D"/>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91440" marR="91440" marT="45720" marB="45720" anchor="ctr">
                    <a:lnL w="6350" cap="flat" cmpd="sng" algn="ctr">
                      <a:solidFill>
                        <a:srgbClr val="D2DCE3"/>
                      </a:solidFill>
                      <a:prstDash val="solid"/>
                      <a:round/>
                      <a:headEnd type="none" w="med" len="med"/>
                      <a:tailEnd type="none" w="med" len="med"/>
                    </a:lnL>
                    <a:lnR w="6350" cap="flat" cmpd="sng" algn="ctr">
                      <a:solidFill>
                        <a:srgbClr val="D2DCE3"/>
                      </a:solidFill>
                      <a:prstDash val="solid"/>
                      <a:round/>
                      <a:headEnd type="none" w="med" len="med"/>
                      <a:tailEnd type="none" w="med" len="med"/>
                    </a:lnR>
                    <a:lnT w="6350" cap="flat" cmpd="sng" algn="ctr">
                      <a:solidFill>
                        <a:srgbClr val="D2DCE3"/>
                      </a:solidFill>
                      <a:prstDash val="solid"/>
                      <a:round/>
                      <a:headEnd type="none" w="med" len="med"/>
                      <a:tailEnd type="none" w="med" len="med"/>
                    </a:lnT>
                    <a:lnB w="6350" cap="flat" cmpd="sng" algn="ctr">
                      <a:solidFill>
                        <a:srgbClr val="D2DCE3"/>
                      </a:solidFill>
                      <a:prstDash val="solid"/>
                      <a:round/>
                      <a:headEnd type="none" w="med" len="med"/>
                      <a:tailEnd type="none" w="med" len="med"/>
                    </a:lnB>
                    <a:solidFill>
                      <a:srgbClr val="FFFFFF"/>
                    </a:solidFill>
                  </a:tcPr>
                </a:tc>
              </a:tr>
            </a:tbl>
          </a:graphicData>
        </a:graphic>
      </p:graphicFrame>
      <p:sp>
        <p:nvSpPr>
          <p:cNvPr id="5" name="Text 1"/>
          <p:cNvSpPr/>
          <p:nvPr/>
        </p:nvSpPr>
        <p:spPr>
          <a:xfrm>
            <a:off x="457200" y="4434840"/>
            <a:ext cx="8229600" cy="365760"/>
          </a:xfrm>
          <a:prstGeom prst="rect">
            <a:avLst/>
          </a:prstGeom>
          <a:noFill/>
          <a:ln/>
        </p:spPr>
        <p:txBody>
          <a:bodyPr wrap="square" lIns="0" tIns="0" rIns="0" bIns="0" rtlCol="0" anchor="ctr"/>
          <a:lstStyle/>
          <a:p>
            <a:pPr indent="0" marL="0">
              <a:buNone/>
            </a:pPr>
            <a:r>
              <a:rPr lang="en-US" sz="1100" b="1" dirty="0">
                <a:solidFill>
                  <a:srgbClr val="13222D"/>
                </a:solidFill>
                <a:latin typeface="Calibri" pitchFamily="34" charset="0"/>
                <a:ea typeface="Calibri" pitchFamily="34" charset="-122"/>
                <a:cs typeface="Calibri" pitchFamily="34" charset="-120"/>
              </a:rPr>
              <a:t>TỔNG $18.871,95 / tháng · $9,44 mỗi DAU. Chi tiết từng dòng và bằng chứng: docs/baogia-A/B/C.tsv và evidence/INDEX.md. vector_db tính trong database.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VBot Workplace - Production Capstone</dc:title>
  <dc:subject>PptxGenJS Presentation</dc:subject>
  <dc:creator>Nhóm VBot</dc:creator>
  <cp:lastModifiedBy>Nhóm VBot</cp:lastModifiedBy>
  <cp:revision>1</cp:revision>
  <dcterms:created xsi:type="dcterms:W3CDTF">2026-10-16T04:26:58Z</dcterms:created>
  <dcterms:modified xsi:type="dcterms:W3CDTF">2026-10-16T04:26:58Z</dcterms:modified>
</cp:coreProperties>
</file>